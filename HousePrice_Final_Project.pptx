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Calibri"/>
              </a:rPr>
              <a:t>House Price Prediction</a:t>
            </a:r>
          </a:p>
          <a:p>
            <a:pPr algn="l"/>
            <a:r>
              <a:rPr sz="5000" b="1">
                <a:solidFill>
                  <a:srgbClr val="FFFFFF"/>
                </a:solidFill>
                <a:latin typeface="Calibri"/>
              </a:rPr>
              <a:t>from Specs and Exterior Photos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023360"/>
            <a:ext cx="1828800" cy="73152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206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>
                <a:solidFill>
                  <a:srgbClr val="FDB913"/>
                </a:solidFill>
                <a:latin typeface="Calibri"/>
              </a:rPr>
              <a:t>CSU Bakersfield, CMPS 4450 Data Mining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463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Noah Gallego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The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specs already get us most of the way. can the photo close the gap?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3594"/>
                </a:solidFill>
                <a:latin typeface="Calibri"/>
              </a:rPr>
              <a:t>what we know about each house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11155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202535"/>
                </a:solidFill>
                <a:latin typeface="Calibri"/>
              </a:rPr>
              <a:t>beds, baths, square footage, city, and one exterior photo.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9319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3594"/>
                </a:solidFill>
                <a:latin typeface="Calibri"/>
              </a:rPr>
              <a:t>the experiment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434840"/>
            <a:ext cx="11155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202535"/>
                </a:solidFill>
                <a:latin typeface="Calibri"/>
              </a:rPr>
              <a:t>fit a model on specs alone. then add features from the photo.</a:t>
            </a:r>
          </a:p>
          <a:p>
            <a:pPr algn="l"/>
            <a:r>
              <a:rPr sz="2000" b="0">
                <a:solidFill>
                  <a:srgbClr val="202535"/>
                </a:solidFill>
                <a:latin typeface="Calibri"/>
              </a:rPr>
              <a:t>does the second model beat the first?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15,474 southern california listings, $195k to $2M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01_price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5943600" cy="2821709"/>
          </a:xfrm>
          <a:prstGeom prst="rect">
            <a:avLst/>
          </a:prstGeom>
        </p:spPr>
      </p:pic>
      <p:pic>
        <p:nvPicPr>
          <p:cNvPr id="8" name="Picture 7" descr="fig03_top_cit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554480"/>
            <a:ext cx="5486400" cy="282632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What a row looks like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one photo plus a few numeric fields per house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02_sample_hou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417320"/>
            <a:ext cx="8841658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Train, validation,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how we use the 15,474 listings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544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3594"/>
                </a:solidFill>
                <a:latin typeface="Calibri"/>
              </a:rPr>
              <a:t>how we set it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65960"/>
            <a:ext cx="111556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>
                <a:solidFill>
                  <a:srgbClr val="202535"/>
                </a:solidFill>
                <a:latin typeface="Calibri"/>
              </a:rPr>
              <a:t>shuffle the listings and split 65 / 15 / 20 into train, validation, and test</a:t>
            </a:r>
          </a:p>
          <a:p>
            <a:pPr algn="l"/>
            <a:r>
              <a:rPr sz="1700" b="0">
                <a:solidFill>
                  <a:srgbClr val="202535"/>
                </a:solidFill>
                <a:latin typeface="Calibri"/>
              </a:rPr>
              <a:t>fit the models on train</a:t>
            </a:r>
          </a:p>
          <a:p>
            <a:pPr algn="l"/>
            <a:r>
              <a:rPr sz="1700" b="0">
                <a:solidFill>
                  <a:srgbClr val="202535"/>
                </a:solidFill>
                <a:latin typeface="Calibri"/>
              </a:rPr>
              <a:t>pick the model and its settings (tree depth, KNN k) by validation error</a:t>
            </a:r>
          </a:p>
          <a:p>
            <a:pPr algn="l"/>
            <a:r>
              <a:rPr sz="1700" b="0">
                <a:solidFill>
                  <a:srgbClr val="202535"/>
                </a:solidFill>
                <a:latin typeface="Calibri"/>
              </a:rPr>
              <a:t>re-run the whole comparison on 500 random reshuffles to check stability</a:t>
            </a:r>
          </a:p>
          <a:p>
            <a:pPr algn="l"/>
            <a:r>
              <a:rPr sz="1700" b="0">
                <a:solidFill>
                  <a:srgbClr val="202535"/>
                </a:solidFill>
                <a:latin typeface="Calibri"/>
              </a:rPr>
              <a:t>open the test set once, at the end, with every choice already locked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7548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3594"/>
                </a:solidFill>
                <a:latin typeface="Calibri"/>
              </a:rPr>
              <a:t>why this 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166360"/>
            <a:ext cx="11155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202535"/>
                </a:solidFill>
                <a:latin typeface="Calibri"/>
              </a:rPr>
              <a:t>one fixed split swings by several thousand dollars just from luck.</a:t>
            </a:r>
          </a:p>
          <a:p>
            <a:pPr algn="l"/>
            <a:r>
              <a:rPr sz="1600" b="0">
                <a:solidFill>
                  <a:srgbClr val="202535"/>
                </a:solidFill>
                <a:latin typeface="Calibri"/>
              </a:rPr>
              <a:t>the reshuffles smooth that out, and the test number stays honest because</a:t>
            </a:r>
          </a:p>
          <a:p>
            <a:pPr algn="l"/>
            <a:r>
              <a:rPr sz="1600" b="0">
                <a:solidFill>
                  <a:srgbClr val="202535"/>
                </a:solidFill>
                <a:latin typeface="Calibri"/>
              </a:rPr>
              <a:t>it never gets to inform a choice.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Eight columns from Kaggle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what arrived in the CSV, and what we do with each 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54480"/>
          <a:ext cx="111556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>
                    <a:solidFill>
                      <a:srgbClr val="00359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0359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>
                    <a:solidFill>
                      <a:srgbClr val="003594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image_id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drop  (just a join key)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street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1317 Van Buren Avenue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extract suffix, target-encode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citi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Salton City, 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target-encode (415 cities)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n_citi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317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drop  (label-encoded citi, redundant)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bed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keep  (z-score for KNN)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bath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2.0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keep  (z-score for KNN)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sqft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1,560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keep  (z-score for KNN)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price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$201,900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target  (what we predict)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989320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535"/>
                </a:solidFill>
                <a:latin typeface="Calibri"/>
              </a:rPr>
              <a:t>five engineered features go into every model: bed, bath, sqft, city target mean, street suffix mean.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Target encoding for city and street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turn a text column into one number by averaging price within each value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3594"/>
                </a:solidFill>
                <a:latin typeface="Calibri"/>
              </a:rPr>
              <a:t>city  (415 unique values)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2103120"/>
          <a:ext cx="54864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city</a:t>
                      </a:r>
                    </a:p>
                  </a:txBody>
                  <a:tcPr>
                    <a:solidFill>
                      <a:srgbClr val="00359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train-mean price</a:t>
                      </a:r>
                    </a:p>
                  </a:txBody>
                  <a:tcPr>
                    <a:solidFill>
                      <a:srgbClr val="00359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535"/>
                          </a:solidFill>
                          <a:latin typeface="Calibri"/>
                        </a:rPr>
                        <a:t>Beverly Hills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535"/>
                          </a:solidFill>
                          <a:latin typeface="Calibri"/>
                        </a:rPr>
                        <a:t>$1,650,000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535"/>
                          </a:solidFill>
                          <a:latin typeface="Calibri"/>
                        </a:rPr>
                        <a:t>San Diego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535"/>
                          </a:solidFill>
                          <a:latin typeface="Calibri"/>
                        </a:rPr>
                        <a:t>$  710,000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535"/>
                          </a:solidFill>
                          <a:latin typeface="Calibri"/>
                        </a:rPr>
                        <a:t>Bakersfield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535"/>
                          </a:solidFill>
                          <a:latin typeface="Calibri"/>
                        </a:rPr>
                        <a:t>$  295,000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535"/>
                          </a:solidFill>
                          <a:latin typeface="Calibri"/>
                        </a:rPr>
                        <a:t>…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535"/>
                          </a:solidFill>
                          <a:latin typeface="Calibri"/>
                        </a:rPr>
                        <a:t>…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4297680"/>
            <a:ext cx="54864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535"/>
                </a:solidFill>
                <a:latin typeface="Calibri"/>
              </a:rPr>
              <a:t>for each row, look up the city,</a:t>
            </a:r>
          </a:p>
          <a:p>
            <a:pPr algn="l"/>
            <a:r>
              <a:rPr sz="1400" b="0">
                <a:solidFill>
                  <a:srgbClr val="202535"/>
                </a:solidFill>
                <a:latin typeface="Calibri"/>
              </a:rPr>
              <a:t>use that average as the feature.</a:t>
            </a:r>
          </a:p>
          <a:p>
            <a:pPr algn="l"/>
            <a:r>
              <a:rPr sz="1400" b="0">
                <a:solidFill>
                  <a:srgbClr val="202535"/>
                </a:solidFill>
                <a:latin typeface="Calibri"/>
              </a:rPr>
              <a:t>cities not seen in train fall back</a:t>
            </a:r>
          </a:p>
          <a:p>
            <a:pPr algn="l"/>
            <a:r>
              <a:rPr sz="1400" b="0">
                <a:solidFill>
                  <a:srgbClr val="202535"/>
                </a:solidFill>
                <a:latin typeface="Calibri"/>
              </a:rPr>
              <a:t>to the overall mean price.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3594"/>
                </a:solidFill>
                <a:latin typeface="Calibri"/>
              </a:rPr>
              <a:t>street  (extract suffix first)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0" y="2103120"/>
          <a:ext cx="54864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suffix</a:t>
                      </a:r>
                    </a:p>
                  </a:txBody>
                  <a:tcPr>
                    <a:solidFill>
                      <a:srgbClr val="00359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train-mean price</a:t>
                      </a:r>
                    </a:p>
                  </a:txBody>
                  <a:tcPr>
                    <a:solidFill>
                      <a:srgbClr val="00359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535"/>
                          </a:solidFill>
                          <a:latin typeface="Calibri"/>
                        </a:rPr>
                        <a:t>circle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535"/>
                          </a:solidFill>
                          <a:latin typeface="Calibri"/>
                        </a:rPr>
                        <a:t>$791,000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535"/>
                          </a:solidFill>
                          <a:latin typeface="Calibri"/>
                        </a:rPr>
                        <a:t>lane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535"/>
                          </a:solidFill>
                          <a:latin typeface="Calibri"/>
                        </a:rPr>
                        <a:t>$716,000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535"/>
                          </a:solidFill>
                          <a:latin typeface="Calibri"/>
                        </a:rPr>
                        <a:t>road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535"/>
                          </a:solidFill>
                          <a:latin typeface="Calibri"/>
                        </a:rPr>
                        <a:t>$746,000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02535"/>
                          </a:solidFill>
                          <a:latin typeface="Calibri"/>
                        </a:rPr>
                        <a:t>boulevard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535"/>
                          </a:solidFill>
                          <a:latin typeface="Calibri"/>
                        </a:rPr>
                        <a:t>$629,000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0" y="4297680"/>
            <a:ext cx="54864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535"/>
                </a:solidFill>
                <a:latin typeface="Calibri"/>
              </a:rPr>
              <a:t>the 12,401 unique addresses have</a:t>
            </a:r>
          </a:p>
          <a:p>
            <a:pPr algn="l"/>
            <a:r>
              <a:rPr sz="1400" b="0">
                <a:solidFill>
                  <a:srgbClr val="202535"/>
                </a:solidFill>
                <a:latin typeface="Calibri"/>
              </a:rPr>
              <a:t>no signal on their own.  the last word</a:t>
            </a:r>
          </a:p>
          <a:p>
            <a:pPr algn="l"/>
            <a:r>
              <a:rPr sz="1400" b="0">
                <a:solidFill>
                  <a:srgbClr val="202535"/>
                </a:solidFill>
                <a:latin typeface="Calibri"/>
              </a:rPr>
              <a:t>(circle, lane, blvd, ...) does.</a:t>
            </a:r>
          </a:p>
          <a:p>
            <a:pPr algn="l"/>
            <a:r>
              <a:rPr sz="1400" b="0">
                <a:solidFill>
                  <a:srgbClr val="202535"/>
                </a:solidFill>
                <a:latin typeface="Calibri"/>
              </a:rPr>
              <a:t>11 suffix types, target-encoded.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Normalizing the numeric columns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without this, sqft and city mean dominate every distance KNN computes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737360"/>
          <a:ext cx="111556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00359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raw range</a:t>
                      </a:r>
                    </a:p>
                  </a:txBody>
                  <a:tcPr>
                    <a:solidFill>
                      <a:srgbClr val="00359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after z-score</a:t>
                      </a:r>
                    </a:p>
                  </a:txBody>
                  <a:tcPr>
                    <a:solidFill>
                      <a:srgbClr val="00359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bed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1 to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≈ -2 to +3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bath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1 to 5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≈ -2 to +3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sqft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500 to 5,400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≈ -2 to +5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city target mean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$200k to $1.65M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≈ -2 to +4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street suffix mean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$629k to $792k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≈ -2 to +3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3035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3594"/>
                </a:solidFill>
                <a:latin typeface="Calibri"/>
              </a:rPr>
              <a:t>z-score:  (value - train_mean) / train_std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80644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535"/>
                </a:solidFill>
                <a:latin typeface="Calibri"/>
              </a:rPr>
              <a:t>linear and tree don't care about scale. KNN does — its distance is the sum of squared differences.</a:t>
            </a:r>
          </a:p>
          <a:p>
            <a:pPr algn="l"/>
            <a:r>
              <a:rPr sz="1400" b="0">
                <a:solidFill>
                  <a:srgbClr val="202535"/>
                </a:solidFill>
                <a:latin typeface="Calibri"/>
              </a:rPr>
              <a:t>without normalizing, every neighbor lookup is decided by sqft alone.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Three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fit each on the five engineered 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828800"/>
            <a:ext cx="3657600" cy="50292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92808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linear regression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06040"/>
            <a:ext cx="33832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202535"/>
                </a:solidFill>
                <a:latin typeface="Calibri"/>
              </a:rPr>
              <a:t>one weight per feature.</a:t>
            </a:r>
          </a:p>
          <a:p>
            <a:pPr algn="l"/>
            <a:r>
              <a:rPr sz="1500" b="0">
                <a:solidFill>
                  <a:srgbClr val="202535"/>
                </a:solidFill>
                <a:latin typeface="Calibri"/>
              </a:rPr>
              <a:t>fast, transparent.</a:t>
            </a:r>
          </a:p>
          <a:p>
            <a:pPr algn="l"/>
            <a:r>
              <a:rPr sz="1500" b="0">
                <a:solidFill>
                  <a:srgbClr val="202535"/>
                </a:solidFill>
                <a:latin typeface="Calibri"/>
              </a:rPr>
              <a:t>struggles with non-linear</a:t>
            </a:r>
          </a:p>
          <a:p>
            <a:pPr algn="l"/>
            <a:r>
              <a:rPr sz="1500" b="0">
                <a:solidFill>
                  <a:srgbClr val="202535"/>
                </a:solidFill>
                <a:latin typeface="Calibri"/>
              </a:rPr>
              <a:t>relationships like the</a:t>
            </a:r>
          </a:p>
          <a:p>
            <a:pPr algn="l"/>
            <a:r>
              <a:rPr sz="1500" b="0">
                <a:solidFill>
                  <a:srgbClr val="202535"/>
                </a:solidFill>
                <a:latin typeface="Calibri"/>
              </a:rPr>
              <a:t>sqft / price curve.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1828800"/>
            <a:ext cx="3657600" cy="50292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892808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decision tree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606040"/>
            <a:ext cx="33832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202535"/>
                </a:solidFill>
                <a:latin typeface="Calibri"/>
              </a:rPr>
              <a:t>splits the data on one</a:t>
            </a:r>
          </a:p>
          <a:p>
            <a:pPr algn="l"/>
            <a:r>
              <a:rPr sz="1500" b="0">
                <a:solidFill>
                  <a:srgbClr val="202535"/>
                </a:solidFill>
                <a:latin typeface="Calibri"/>
              </a:rPr>
              <a:t>feature at a time.</a:t>
            </a:r>
          </a:p>
          <a:p>
            <a:pPr algn="l"/>
            <a:r>
              <a:rPr sz="1500" b="0">
                <a:solidFill>
                  <a:srgbClr val="202535"/>
                </a:solidFill>
                <a:latin typeface="Calibri"/>
              </a:rPr>
              <a:t>handles non-linear cuts,</a:t>
            </a:r>
          </a:p>
          <a:p>
            <a:pPr algn="l"/>
            <a:r>
              <a:rPr sz="1500" b="0">
                <a:solidFill>
                  <a:srgbClr val="202535"/>
                </a:solidFill>
                <a:latin typeface="Calibri"/>
              </a:rPr>
              <a:t>doesn't care about scale,</a:t>
            </a:r>
          </a:p>
          <a:p>
            <a:pPr algn="l"/>
            <a:r>
              <a:rPr sz="1500" b="0">
                <a:solidFill>
                  <a:srgbClr val="202535"/>
                </a:solidFill>
                <a:latin typeface="Calibri"/>
              </a:rPr>
              <a:t>tuned by depth.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66760" y="1828800"/>
            <a:ext cx="3657600" cy="50292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1892808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k-nearest neighbors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606040"/>
            <a:ext cx="33832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202535"/>
                </a:solidFill>
                <a:latin typeface="Calibri"/>
              </a:rPr>
              <a:t>predict by averaging the</a:t>
            </a:r>
          </a:p>
          <a:p>
            <a:pPr algn="l"/>
            <a:r>
              <a:rPr sz="1500" b="0">
                <a:solidFill>
                  <a:srgbClr val="202535"/>
                </a:solidFill>
                <a:latin typeface="Calibri"/>
              </a:rPr>
              <a:t>k most similar houses.</a:t>
            </a:r>
          </a:p>
          <a:p>
            <a:pPr algn="l"/>
            <a:r>
              <a:rPr sz="1500" b="0">
                <a:solidFill>
                  <a:srgbClr val="202535"/>
                </a:solidFill>
                <a:latin typeface="Calibri"/>
              </a:rPr>
              <a:t>needs normalized</a:t>
            </a:r>
          </a:p>
          <a:p>
            <a:pPr algn="l"/>
            <a:r>
              <a:rPr sz="1500" b="0">
                <a:solidFill>
                  <a:srgbClr val="202535"/>
                </a:solidFill>
                <a:latin typeface="Calibri"/>
              </a:rPr>
              <a:t>features, tuned by k and</a:t>
            </a:r>
          </a:p>
          <a:p>
            <a:pPr algn="l"/>
            <a:r>
              <a:rPr sz="1500" b="0">
                <a:solidFill>
                  <a:srgbClr val="202535"/>
                </a:solidFill>
                <a:latin typeface="Calibri"/>
              </a:rPr>
              <a:t>distance function.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KNN, four distance functions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each box summarizes 200 random reshuffles at that 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0" y="17373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3594"/>
                </a:solidFill>
                <a:latin typeface="Calibri"/>
              </a:rPr>
              <a:t>reading the plot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0" y="2194560"/>
            <a:ext cx="27432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202535"/>
                </a:solidFill>
                <a:latin typeface="Calibri"/>
              </a:rPr>
              <a:t>each panel is a different</a:t>
            </a:r>
          </a:p>
          <a:p>
            <a:pPr algn="l"/>
            <a:r>
              <a:rPr sz="1300" b="0">
                <a:solidFill>
                  <a:srgbClr val="202535"/>
                </a:solidFill>
                <a:latin typeface="Calibri"/>
              </a:rPr>
              <a:t>distance function.</a:t>
            </a:r>
          </a:p>
          <a:p>
            <a:pPr algn="l"/>
            <a:r>
              <a:rPr sz="1300" b="0">
                <a:solidFill>
                  <a:srgbClr val="202535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202535"/>
                </a:solidFill>
                <a:latin typeface="Calibri"/>
              </a:rPr>
              <a:t>each box: spread of</a:t>
            </a:r>
          </a:p>
          <a:p>
            <a:pPr algn="l"/>
            <a:r>
              <a:rPr sz="1300" b="0">
                <a:solidFill>
                  <a:srgbClr val="202535"/>
                </a:solidFill>
                <a:latin typeface="Calibri"/>
              </a:rPr>
              <a:t>validation MAE at that k.</a:t>
            </a:r>
          </a:p>
          <a:p>
            <a:pPr algn="l"/>
            <a:r>
              <a:rPr sz="1300" b="0">
                <a:solidFill>
                  <a:srgbClr val="202535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202535"/>
                </a:solidFill>
                <a:latin typeface="Calibri"/>
              </a:rPr>
              <a:t>gold line connects the</a:t>
            </a:r>
          </a:p>
          <a:p>
            <a:pPr algn="l"/>
            <a:r>
              <a:rPr sz="1300" b="0">
                <a:solidFill>
                  <a:srgbClr val="202535"/>
                </a:solidFill>
                <a:latin typeface="Calibri"/>
              </a:rPr>
              <a:t>medians.</a:t>
            </a:r>
          </a:p>
          <a:p>
            <a:pPr algn="l"/>
            <a:r>
              <a:rPr sz="1300" b="0">
                <a:solidFill>
                  <a:srgbClr val="202535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202535"/>
                </a:solidFill>
                <a:latin typeface="Calibri"/>
              </a:rPr>
              <a:t>lower is better.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Where the baseline misses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the top six errors split into two kinds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07_worst_mi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417320"/>
            <a:ext cx="8044586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Three things the photo could fix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the case for adding image 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11680"/>
            <a:ext cx="3657600" cy="50292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75688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condition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88920"/>
            <a:ext cx="338328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>
                <a:solidFill>
                  <a:srgbClr val="202535"/>
                </a:solidFill>
                <a:latin typeface="Calibri"/>
              </a:rPr>
              <a:t>same specs, different</a:t>
            </a:r>
          </a:p>
          <a:p>
            <a:pPr algn="l"/>
            <a:r>
              <a:rPr sz="1700" b="0">
                <a:solidFill>
                  <a:srgbClr val="202535"/>
                </a:solidFill>
                <a:latin typeface="Calibri"/>
              </a:rPr>
              <a:t>upkeep and landscaping.</a:t>
            </a:r>
          </a:p>
          <a:p>
            <a:pPr algn="l"/>
            <a:r>
              <a:rPr sz="1700" b="0">
                <a:solidFill>
                  <a:srgbClr val="202535"/>
                </a:solidFill>
                <a:latin typeface="Calibri"/>
              </a:rPr>
              <a:t>that lives in the photo.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2011680"/>
            <a:ext cx="3657600" cy="50292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075688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size beyond sqft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788920"/>
            <a:ext cx="338328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>
                <a:solidFill>
                  <a:srgbClr val="202535"/>
                </a:solidFill>
                <a:latin typeface="Calibri"/>
              </a:rPr>
              <a:t>story count, lot size,</a:t>
            </a:r>
          </a:p>
          <a:p>
            <a:pPr algn="l"/>
            <a:r>
              <a:rPr sz="1700" b="0">
                <a:solidFill>
                  <a:srgbClr val="202535"/>
                </a:solidFill>
                <a:latin typeface="Calibri"/>
              </a:rPr>
              <a:t>yard space. specs miss</a:t>
            </a:r>
          </a:p>
          <a:p>
            <a:pPr algn="l"/>
            <a:r>
              <a:rPr sz="1700" b="0">
                <a:solidFill>
                  <a:srgbClr val="202535"/>
                </a:solidFill>
                <a:latin typeface="Calibri"/>
              </a:rPr>
              <a:t>those. the photo doesn't.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66760" y="2011680"/>
            <a:ext cx="3657600" cy="50292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2075688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neighborhood look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788920"/>
            <a:ext cx="338328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>
                <a:solidFill>
                  <a:srgbClr val="202535"/>
                </a:solidFill>
                <a:latin typeface="Calibri"/>
              </a:rPr>
              <a:t>trees, driveway, fencing,</a:t>
            </a:r>
          </a:p>
          <a:p>
            <a:pPr algn="l"/>
            <a:r>
              <a:rPr sz="1700" b="0">
                <a:solidFill>
                  <a:srgbClr val="202535"/>
                </a:solidFill>
                <a:latin typeface="Calibri"/>
              </a:rPr>
              <a:t>lighting. signals the</a:t>
            </a:r>
          </a:p>
          <a:p>
            <a:pPr algn="l"/>
            <a:r>
              <a:rPr sz="1700" b="0">
                <a:solidFill>
                  <a:srgbClr val="202535"/>
                </a:solidFill>
                <a:latin typeface="Calibri"/>
              </a:rPr>
              <a:t>street, not just the city.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Why not just feed in the pixels?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the dimensionality wall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3594"/>
                </a:solidFill>
                <a:latin typeface="Calibri"/>
              </a:rPr>
              <a:t>each photo is 128 x 128 x 3 = 49,152 pixel values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3594"/>
                </a:solidFill>
                <a:latin typeface="Calibri"/>
              </a:rPr>
              <a:t>training set has roughly 10,000 houses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657600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02535"/>
                </a:solidFill>
                <a:latin typeface="Calibri"/>
              </a:rPr>
              <a:t>more inputs than examples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206240"/>
            <a:ext cx="111556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>
                <a:solidFill>
                  <a:srgbClr val="202535"/>
                </a:solidFill>
                <a:latin typeface="Calibri"/>
              </a:rPr>
              <a:t>the model can fit anything in training and learn nothing useful.</a:t>
            </a:r>
          </a:p>
          <a:p>
            <a:pPr algn="l"/>
            <a:r>
              <a:rPr sz="1700" b="0">
                <a:solidFill>
                  <a:srgbClr val="202535"/>
                </a:solidFill>
                <a:latin typeface="Calibri"/>
              </a:rPr>
              <a:t>linear regression is underdetermined.</a:t>
            </a:r>
          </a:p>
          <a:p>
            <a:pPr algn="l"/>
            <a:r>
              <a:rPr sz="1700" b="0">
                <a:solidFill>
                  <a:srgbClr val="202535"/>
                </a:solidFill>
                <a:latin typeface="Calibri"/>
              </a:rPr>
              <a:t>trees and KNN see pixel positions as unrelated columns — shift the house</a:t>
            </a:r>
          </a:p>
          <a:p>
            <a:pPr algn="l"/>
            <a:r>
              <a:rPr sz="1700" b="0">
                <a:solidFill>
                  <a:srgbClr val="202535"/>
                </a:solidFill>
                <a:latin typeface="Calibri"/>
              </a:rPr>
              <a:t>ten pixels left and every input value changes.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A filter is a 3x3 window that slides across the photo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the kernel is fixed, the output is a smaller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obel_sliding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554480"/>
            <a:ext cx="874395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9436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202535"/>
                </a:solidFill>
                <a:latin typeface="Calibri"/>
              </a:rPr>
              <a:t>at each position, multiply the 9 pixels under the window by the kernel weights and sum.</a:t>
            </a:r>
          </a:p>
          <a:p>
            <a:pPr algn="l"/>
            <a:r>
              <a:rPr sz="1500" b="0">
                <a:solidFill>
                  <a:srgbClr val="202535"/>
                </a:solidFill>
                <a:latin typeface="Calibri"/>
              </a:rPr>
              <a:t>that sum becomes one output pixel.  here the kernel detects horizontal edges (sobel-y).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Our six filters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one photo, six response maps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19_filter_b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37360"/>
            <a:ext cx="11887200" cy="20076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029200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202535"/>
                </a:solidFill>
                <a:latin typeface="Calibri"/>
              </a:rPr>
              <a:t>edges catch the roofline and window frames.  color dominances pick out sky, lawn, and roof.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Pooling: 128 x 128 down to 4 x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each filter response collapses to 16 numbers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3594"/>
                </a:solidFill>
                <a:latin typeface="Calibri"/>
              </a:rPr>
              <a:t>the idea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94560"/>
            <a:ext cx="1115568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202535"/>
                </a:solidFill>
                <a:latin typeface="Calibri"/>
              </a:rPr>
              <a:t>split each 128 x 128 response into a 4 x 4 grid of 32 x 32 patches.</a:t>
            </a:r>
          </a:p>
          <a:p>
            <a:pPr algn="l"/>
            <a:r>
              <a:rPr sz="1800" b="0">
                <a:solidFill>
                  <a:srgbClr val="202535"/>
                </a:solidFill>
                <a:latin typeface="Calibri"/>
              </a:rPr>
              <a:t>take the mean of each patch.</a:t>
            </a:r>
          </a:p>
          <a:p>
            <a:pPr algn="l"/>
            <a:r>
              <a:rPr sz="1800" b="0">
                <a:solidFill>
                  <a:srgbClr val="202535"/>
                </a:solidFill>
                <a:latin typeface="Calibri"/>
              </a:rPr>
              <a:t>now each filter is 16 numbers instead of 16,384.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389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3594"/>
                </a:solidFill>
                <a:latin typeface="Calibri"/>
              </a:rPr>
              <a:t>what the model sees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46320"/>
            <a:ext cx="11155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202535"/>
                </a:solidFill>
                <a:latin typeface="Calibri"/>
              </a:rPr>
              <a:t>six filters x 16 cells = 96 spatially-aware numbers per photo.</a:t>
            </a:r>
          </a:p>
          <a:p>
            <a:pPr algn="l"/>
            <a:r>
              <a:rPr sz="1800" b="0">
                <a:solidFill>
                  <a:srgbClr val="202535"/>
                </a:solidFill>
                <a:latin typeface="Calibri"/>
              </a:rPr>
              <a:t>plus the 4 specs.  100 features total per house.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What the model sees,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100 numbers per house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3594"/>
                </a:solidFill>
                <a:latin typeface="Calibri"/>
              </a:rPr>
              <a:t>from the listing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202535"/>
                </a:solidFill>
                <a:latin typeface="Calibri"/>
              </a:rPr>
              <a:t>beds</a:t>
            </a:r>
          </a:p>
          <a:p>
            <a:pPr algn="l"/>
            <a:r>
              <a:rPr sz="2000" b="0">
                <a:solidFill>
                  <a:srgbClr val="202535"/>
                </a:solidFill>
                <a:latin typeface="Calibri"/>
              </a:rPr>
              <a:t>baths</a:t>
            </a:r>
          </a:p>
          <a:p>
            <a:pPr algn="l"/>
            <a:r>
              <a:rPr sz="2000" b="0">
                <a:solidFill>
                  <a:srgbClr val="202535"/>
                </a:solidFill>
                <a:latin typeface="Calibri"/>
              </a:rPr>
              <a:t>square footage</a:t>
            </a:r>
          </a:p>
          <a:p>
            <a:pPr algn="l"/>
            <a:r>
              <a:rPr sz="2000" b="0">
                <a:solidFill>
                  <a:srgbClr val="202535"/>
                </a:solidFill>
                <a:latin typeface="Calibri"/>
              </a:rPr>
              <a:t>typical price in that city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3594"/>
                </a:solidFill>
                <a:latin typeface="Calibri"/>
              </a:rPr>
              <a:t>from the photo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468880"/>
            <a:ext cx="54864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202535"/>
                </a:solidFill>
                <a:latin typeface="Calibri"/>
              </a:rPr>
              <a:t>6 filters, each pooled to 4 x 4</a:t>
            </a:r>
          </a:p>
          <a:p>
            <a:pPr algn="l"/>
            <a:r>
              <a:rPr sz="1800" b="0">
                <a:solidFill>
                  <a:srgbClr val="202535"/>
                </a:solidFill>
                <a:latin typeface="Calibri"/>
              </a:rPr>
              <a:t>= 96 numbers describing</a:t>
            </a:r>
          </a:p>
          <a:p>
            <a:pPr algn="l"/>
            <a:r>
              <a:rPr sz="1800" b="0">
                <a:solidFill>
                  <a:srgbClr val="202535"/>
                </a:solidFill>
                <a:latin typeface="Calibri"/>
              </a:rPr>
              <a:t>what's where in the photo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Did spatial features help?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validation MAE, by feature set and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4389120" cy="502920"/>
          </a:xfrm>
          <a:prstGeom prst="rect">
            <a:avLst/>
          </a:prstGeom>
          <a:solidFill>
            <a:srgbClr val="003594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feature set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7760" y="1828800"/>
            <a:ext cx="2011680" cy="502920"/>
          </a:xfrm>
          <a:prstGeom prst="rect">
            <a:avLst/>
          </a:prstGeom>
          <a:solidFill>
            <a:srgbClr val="003594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linear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0" y="1828800"/>
            <a:ext cx="2011680" cy="502920"/>
          </a:xfrm>
          <a:prstGeom prst="rect">
            <a:avLst/>
          </a:prstGeom>
          <a:solidFill>
            <a:srgbClr val="003594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tree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0" y="1828800"/>
            <a:ext cx="1828800" cy="502920"/>
          </a:xfrm>
          <a:prstGeom prst="rect">
            <a:avLst/>
          </a:prstGeom>
          <a:solidFill>
            <a:srgbClr val="003594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knn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789920" y="1828800"/>
            <a:ext cx="1828800" cy="502920"/>
          </a:xfrm>
          <a:prstGeom prst="rect">
            <a:avLst/>
          </a:prstGeom>
          <a:solidFill>
            <a:srgbClr val="003594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331720"/>
            <a:ext cx="4389120" cy="502920"/>
          </a:xfrm>
          <a:prstGeom prst="rect">
            <a:avLst/>
          </a:prstGeom>
          <a:solidFill>
            <a:srgbClr val="FFF4D0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36576" bIns="36576"/>
          <a:lstStyle/>
          <a:p>
            <a:pPr algn="ctr"/>
            <a:r>
              <a:rPr sz="1400" b="0">
                <a:solidFill>
                  <a:srgbClr val="202535"/>
                </a:solidFill>
                <a:latin typeface="Calibri"/>
              </a:rPr>
              <a:t>specs only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2331720"/>
            <a:ext cx="2011680" cy="502920"/>
          </a:xfrm>
          <a:prstGeom prst="rect">
            <a:avLst/>
          </a:prstGeom>
          <a:solidFill>
            <a:srgbClr val="FFF4D0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36576" bIns="36576"/>
          <a:lstStyle/>
          <a:p>
            <a:pPr algn="ctr"/>
            <a:r>
              <a:rPr sz="1400" b="0">
                <a:solidFill>
                  <a:srgbClr val="202535"/>
                </a:solidFill>
                <a:latin typeface="Calibri"/>
              </a:rPr>
              <a:t>$165k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0" y="2331720"/>
            <a:ext cx="2011680" cy="502920"/>
          </a:xfrm>
          <a:prstGeom prst="rect">
            <a:avLst/>
          </a:prstGeom>
          <a:solidFill>
            <a:srgbClr val="FFF4D0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36576" bIns="36576"/>
          <a:lstStyle/>
          <a:p>
            <a:pPr algn="ctr"/>
            <a:r>
              <a:rPr sz="1400" b="0">
                <a:solidFill>
                  <a:srgbClr val="202535"/>
                </a:solidFill>
                <a:latin typeface="Calibri"/>
              </a:rPr>
              <a:t>$144k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0" y="2331720"/>
            <a:ext cx="1828800" cy="502920"/>
          </a:xfrm>
          <a:prstGeom prst="rect">
            <a:avLst/>
          </a:prstGeom>
          <a:solidFill>
            <a:srgbClr val="FFF4D0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36576" bIns="36576"/>
          <a:lstStyle/>
          <a:p>
            <a:pPr algn="ctr"/>
            <a:r>
              <a:rPr sz="1400" b="0">
                <a:solidFill>
                  <a:srgbClr val="202535"/>
                </a:solidFill>
                <a:latin typeface="Calibri"/>
              </a:rPr>
              <a:t>$150k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789920" y="2331720"/>
            <a:ext cx="1828800" cy="502920"/>
          </a:xfrm>
          <a:prstGeom prst="rect">
            <a:avLst/>
          </a:prstGeom>
          <a:solidFill>
            <a:srgbClr val="FFF4D0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36576" bIns="36576"/>
          <a:lstStyle/>
          <a:p>
            <a:pPr algn="ctr"/>
            <a:r>
              <a:rPr sz="1400" b="1">
                <a:solidFill>
                  <a:srgbClr val="202535"/>
                </a:solidFill>
                <a:latin typeface="Calibri"/>
              </a:rPr>
              <a:t>$144k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834640"/>
            <a:ext cx="4389120" cy="502920"/>
          </a:xfrm>
          <a:prstGeom prst="rect">
            <a:avLst/>
          </a:prstGeom>
          <a:solidFill>
            <a:srgbClr val="F5F7FB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36576" bIns="36576"/>
          <a:lstStyle/>
          <a:p>
            <a:pPr algn="ctr"/>
            <a:r>
              <a:rPr sz="1400" b="0">
                <a:solidFill>
                  <a:srgbClr val="202535"/>
                </a:solidFill>
                <a:latin typeface="Calibri"/>
              </a:rPr>
              <a:t>specs + spatial (96)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37760" y="2834640"/>
            <a:ext cx="2011680" cy="502920"/>
          </a:xfrm>
          <a:prstGeom prst="rect">
            <a:avLst/>
          </a:prstGeom>
          <a:solidFill>
            <a:srgbClr val="F5F7FB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36576" bIns="36576"/>
          <a:lstStyle/>
          <a:p>
            <a:pPr algn="ctr"/>
            <a:r>
              <a:rPr sz="1400" b="0">
                <a:solidFill>
                  <a:srgbClr val="202535"/>
                </a:solidFill>
                <a:latin typeface="Calibri"/>
              </a:rPr>
              <a:t>$164k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2834640"/>
            <a:ext cx="2011680" cy="502920"/>
          </a:xfrm>
          <a:prstGeom prst="rect">
            <a:avLst/>
          </a:prstGeom>
          <a:solidFill>
            <a:srgbClr val="F5F7FB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36576" bIns="36576"/>
          <a:lstStyle/>
          <a:p>
            <a:pPr algn="ctr"/>
            <a:r>
              <a:rPr sz="1400" b="0">
                <a:solidFill>
                  <a:srgbClr val="202535"/>
                </a:solidFill>
                <a:latin typeface="Calibri"/>
              </a:rPr>
              <a:t>$156k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61120" y="2834640"/>
            <a:ext cx="1828800" cy="502920"/>
          </a:xfrm>
          <a:prstGeom prst="rect">
            <a:avLst/>
          </a:prstGeom>
          <a:solidFill>
            <a:srgbClr val="F5F7FB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36576" bIns="36576"/>
          <a:lstStyle/>
          <a:p>
            <a:pPr algn="ctr"/>
            <a:r>
              <a:rPr sz="1400" b="0">
                <a:solidFill>
                  <a:srgbClr val="202535"/>
                </a:solidFill>
                <a:latin typeface="Calibri"/>
              </a:rPr>
              <a:t>$218k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789920" y="2834640"/>
            <a:ext cx="1828800" cy="502920"/>
          </a:xfrm>
          <a:prstGeom prst="rect">
            <a:avLst/>
          </a:prstGeom>
          <a:solidFill>
            <a:srgbClr val="F5F7FB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36576" bIns="36576"/>
          <a:lstStyle/>
          <a:p>
            <a:pPr algn="ctr"/>
            <a:r>
              <a:rPr sz="1400" b="1">
                <a:solidFill>
                  <a:srgbClr val="202535"/>
                </a:solidFill>
                <a:latin typeface="Calibri"/>
              </a:rPr>
              <a:t>$156k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337560"/>
            <a:ext cx="43891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36576" bIns="36576"/>
          <a:lstStyle/>
          <a:p>
            <a:pPr algn="ctr"/>
            <a:r>
              <a:rPr sz="1400" b="0">
                <a:solidFill>
                  <a:srgbClr val="202535"/>
                </a:solidFill>
                <a:latin typeface="Calibri"/>
              </a:rPr>
              <a:t>spatial 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37760" y="3337560"/>
            <a:ext cx="20116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36576" bIns="36576"/>
          <a:lstStyle/>
          <a:p>
            <a:pPr algn="ctr"/>
            <a:r>
              <a:rPr sz="1400" b="0">
                <a:solidFill>
                  <a:srgbClr val="202535"/>
                </a:solidFill>
                <a:latin typeface="Calibri"/>
              </a:rPr>
              <a:t>$269k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49440" y="3337560"/>
            <a:ext cx="20116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36576" bIns="36576"/>
          <a:lstStyle/>
          <a:p>
            <a:pPr algn="ctr"/>
            <a:r>
              <a:rPr sz="1400" b="0">
                <a:solidFill>
                  <a:srgbClr val="202535"/>
                </a:solidFill>
                <a:latin typeface="Calibri"/>
              </a:rPr>
              <a:t>$284k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61120" y="3337560"/>
            <a:ext cx="18288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36576" bIns="36576"/>
          <a:lstStyle/>
          <a:p>
            <a:pPr algn="ctr"/>
            <a:r>
              <a:rPr sz="1400" b="0">
                <a:solidFill>
                  <a:srgbClr val="202535"/>
                </a:solidFill>
                <a:latin typeface="Calibri"/>
              </a:rPr>
              <a:t>$265k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789920" y="3337560"/>
            <a:ext cx="18288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36576" bIns="36576"/>
          <a:lstStyle/>
          <a:p>
            <a:pPr algn="ctr"/>
            <a:r>
              <a:rPr sz="1400" b="1">
                <a:solidFill>
                  <a:srgbClr val="202535"/>
                </a:solidFill>
                <a:latin typeface="Calibri"/>
              </a:rPr>
              <a:t>$265k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212080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202535"/>
                </a:solidFill>
                <a:latin typeface="Calibri"/>
              </a:rPr>
              <a:t>spatial features alone get to $284k — barely better than guessing the average.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715000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202535"/>
                </a:solidFill>
                <a:latin typeface="Calibri"/>
              </a:rPr>
              <a:t>adding them on top of specs makes tree and KNN worse, not better.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26364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3594"/>
                </a:solidFill>
                <a:latin typeface="Calibri"/>
              </a:rPr>
              <a:t>specs still win.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Per-city, with and without the photo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two cities benefit a little. the rest get worse.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12_per_city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1033749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K-means on photo features alone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if photos carried price signal, clusters would land at different prices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14_kmeans_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8229600" cy="407565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778240" y="182880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3594"/>
                </a:solidFill>
                <a:latin typeface="Calibri"/>
              </a:rPr>
              <a:t>what we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2468880"/>
            <a:ext cx="31089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202535"/>
                </a:solidFill>
                <a:latin typeface="Calibri"/>
              </a:rPr>
              <a:t>four clusters, mean</a:t>
            </a:r>
          </a:p>
          <a:p>
            <a:pPr algn="l"/>
            <a:r>
              <a:rPr sz="1600" b="0">
                <a:solidFill>
                  <a:srgbClr val="202535"/>
                </a:solidFill>
                <a:latin typeface="Calibri"/>
              </a:rPr>
              <a:t>prices land within</a:t>
            </a:r>
          </a:p>
          <a:p>
            <a:pPr algn="l"/>
            <a:r>
              <a:rPr sz="1600" b="0">
                <a:solidFill>
                  <a:srgbClr val="202535"/>
                </a:solidFill>
                <a:latin typeface="Calibri"/>
              </a:rPr>
              <a:t>$80k of each other.</a:t>
            </a:r>
          </a:p>
          <a:p>
            <a:pPr algn="l"/>
            <a:r>
              <a:rPr sz="1600" b="0">
                <a:solidFill>
                  <a:srgbClr val="202535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202535"/>
                </a:solidFill>
                <a:latin typeface="Calibri"/>
              </a:rPr>
              <a:t>the photo features</a:t>
            </a:r>
          </a:p>
          <a:p>
            <a:pPr algn="l"/>
            <a:r>
              <a:rPr sz="1600" b="0">
                <a:solidFill>
                  <a:srgbClr val="202535"/>
                </a:solidFill>
                <a:latin typeface="Calibri"/>
              </a:rPr>
              <a:t>don't separate price.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Final test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trained on train + val, evaluated once on the 3,095 held-out test rows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3108960" cy="457200"/>
          </a:xfrm>
          <a:prstGeom prst="rect">
            <a:avLst/>
          </a:prstGeom>
          <a:solidFill>
            <a:srgbClr val="003594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8" name="Rectangle 7"/>
          <p:cNvSpPr/>
          <p:nvPr/>
        </p:nvSpPr>
        <p:spPr>
          <a:xfrm>
            <a:off x="3749040" y="1737360"/>
            <a:ext cx="2194560" cy="457200"/>
          </a:xfrm>
          <a:prstGeom prst="rect">
            <a:avLst/>
          </a:prstGeom>
          <a:solidFill>
            <a:srgbClr val="003594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features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737360"/>
            <a:ext cx="1554480" cy="457200"/>
          </a:xfrm>
          <a:prstGeom prst="rect">
            <a:avLst/>
          </a:prstGeom>
          <a:solidFill>
            <a:srgbClr val="003594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MAE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0" y="1737360"/>
            <a:ext cx="1554480" cy="457200"/>
          </a:xfrm>
          <a:prstGeom prst="rect">
            <a:avLst/>
          </a:prstGeom>
          <a:solidFill>
            <a:srgbClr val="003594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RMSE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0" y="1737360"/>
            <a:ext cx="1371600" cy="457200"/>
          </a:xfrm>
          <a:prstGeom prst="rect">
            <a:avLst/>
          </a:prstGeom>
          <a:solidFill>
            <a:srgbClr val="003594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&lt;$50k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24160" y="1737360"/>
            <a:ext cx="1371600" cy="457200"/>
          </a:xfrm>
          <a:prstGeom prst="rect">
            <a:avLst/>
          </a:prstGeom>
          <a:solidFill>
            <a:srgbClr val="003594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&lt;$100k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194560"/>
            <a:ext cx="310896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constant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49040" y="2194560"/>
            <a:ext cx="219456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none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0" y="2194560"/>
            <a:ext cx="155448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$270k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0" y="2194560"/>
            <a:ext cx="155448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$366k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52560" y="2194560"/>
            <a:ext cx="137160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13.9%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424160" y="2194560"/>
            <a:ext cx="137160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27.1%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651760"/>
            <a:ext cx="3108960" cy="457200"/>
          </a:xfrm>
          <a:prstGeom prst="rect">
            <a:avLst/>
          </a:prstGeom>
          <a:solidFill>
            <a:srgbClr val="F5F7FB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linear regression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49040" y="2651760"/>
            <a:ext cx="2194560" cy="457200"/>
          </a:xfrm>
          <a:prstGeom prst="rect">
            <a:avLst/>
          </a:prstGeom>
          <a:solidFill>
            <a:srgbClr val="F5F7FB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specs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2651760"/>
            <a:ext cx="1554480" cy="457200"/>
          </a:xfrm>
          <a:prstGeom prst="rect">
            <a:avLst/>
          </a:prstGeom>
          <a:solidFill>
            <a:srgbClr val="F5F7FB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$164k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80" y="2651760"/>
            <a:ext cx="1554480" cy="457200"/>
          </a:xfrm>
          <a:prstGeom prst="rect">
            <a:avLst/>
          </a:prstGeom>
          <a:solidFill>
            <a:srgbClr val="F5F7FB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$233k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2560" y="2651760"/>
            <a:ext cx="1371600" cy="457200"/>
          </a:xfrm>
          <a:prstGeom prst="rect">
            <a:avLst/>
          </a:prstGeom>
          <a:solidFill>
            <a:srgbClr val="F5F7FB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23.2%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424160" y="2651760"/>
            <a:ext cx="1371600" cy="457200"/>
          </a:xfrm>
          <a:prstGeom prst="rect">
            <a:avLst/>
          </a:prstGeom>
          <a:solidFill>
            <a:srgbClr val="F5F7FB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44.5%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108960"/>
            <a:ext cx="310896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linear regression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49040" y="3108960"/>
            <a:ext cx="219456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specs + spatial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0" y="3108960"/>
            <a:ext cx="155448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$163k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98080" y="3108960"/>
            <a:ext cx="155448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$233k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52560" y="3108960"/>
            <a:ext cx="137160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23.1%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424160" y="3108960"/>
            <a:ext cx="137160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44.8%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3566160"/>
            <a:ext cx="3108960" cy="457200"/>
          </a:xfrm>
          <a:prstGeom prst="rect">
            <a:avLst/>
          </a:prstGeom>
          <a:solidFill>
            <a:srgbClr val="FFF4D0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decision tree, d=15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49040" y="3566160"/>
            <a:ext cx="2194560" cy="457200"/>
          </a:xfrm>
          <a:prstGeom prst="rect">
            <a:avLst/>
          </a:prstGeom>
          <a:solidFill>
            <a:srgbClr val="FFF4D0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specs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43600" y="3566160"/>
            <a:ext cx="1554480" cy="457200"/>
          </a:xfrm>
          <a:prstGeom prst="rect">
            <a:avLst/>
          </a:prstGeom>
          <a:solidFill>
            <a:srgbClr val="FFF4D0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$142k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98080" y="3566160"/>
            <a:ext cx="1554480" cy="457200"/>
          </a:xfrm>
          <a:prstGeom prst="rect">
            <a:avLst/>
          </a:prstGeom>
          <a:solidFill>
            <a:srgbClr val="FFF4D0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$218k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052560" y="3566160"/>
            <a:ext cx="1371600" cy="457200"/>
          </a:xfrm>
          <a:prstGeom prst="rect">
            <a:avLst/>
          </a:prstGeom>
          <a:solidFill>
            <a:srgbClr val="FFF4D0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32.9%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424160" y="3566160"/>
            <a:ext cx="1371600" cy="457200"/>
          </a:xfrm>
          <a:prstGeom prst="rect">
            <a:avLst/>
          </a:prstGeom>
          <a:solidFill>
            <a:srgbClr val="FFF4D0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54.3%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4023360"/>
            <a:ext cx="310896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decision tree, d=10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749040" y="4023360"/>
            <a:ext cx="219456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specs + spatial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0" y="4023360"/>
            <a:ext cx="155448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$154k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98080" y="4023360"/>
            <a:ext cx="155448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$234k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052560" y="4023360"/>
            <a:ext cx="137160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29.6%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424160" y="4023360"/>
            <a:ext cx="137160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50.9%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4480560"/>
            <a:ext cx="3108960" cy="457200"/>
          </a:xfrm>
          <a:prstGeom prst="rect">
            <a:avLst/>
          </a:prstGeom>
          <a:solidFill>
            <a:srgbClr val="F5F7FB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KNN, k=15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749040" y="4480560"/>
            <a:ext cx="2194560" cy="457200"/>
          </a:xfrm>
          <a:prstGeom prst="rect">
            <a:avLst/>
          </a:prstGeom>
          <a:solidFill>
            <a:srgbClr val="F5F7FB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specs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43600" y="4480560"/>
            <a:ext cx="1554480" cy="457200"/>
          </a:xfrm>
          <a:prstGeom prst="rect">
            <a:avLst/>
          </a:prstGeom>
          <a:solidFill>
            <a:srgbClr val="F5F7FB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$150k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498080" y="4480560"/>
            <a:ext cx="1554480" cy="457200"/>
          </a:xfrm>
          <a:prstGeom prst="rect">
            <a:avLst/>
          </a:prstGeom>
          <a:solidFill>
            <a:srgbClr val="F5F7FB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$224k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52560" y="4480560"/>
            <a:ext cx="1371600" cy="457200"/>
          </a:xfrm>
          <a:prstGeom prst="rect">
            <a:avLst/>
          </a:prstGeom>
          <a:solidFill>
            <a:srgbClr val="F5F7FB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29.4%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424160" y="4480560"/>
            <a:ext cx="1371600" cy="457200"/>
          </a:xfrm>
          <a:prstGeom prst="rect">
            <a:avLst/>
          </a:prstGeom>
          <a:solidFill>
            <a:srgbClr val="F5F7FB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51.0%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" y="4937760"/>
            <a:ext cx="310896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KNN, k=15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749040" y="4937760"/>
            <a:ext cx="219456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specs + spatial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943600" y="4937760"/>
            <a:ext cx="155448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$208k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498080" y="4937760"/>
            <a:ext cx="155448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$291k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52560" y="4937760"/>
            <a:ext cx="137160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15.8%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424160" y="4937760"/>
            <a:ext cx="137160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33.9%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5669280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3594"/>
                </a:solidFill>
                <a:latin typeface="Calibri"/>
              </a:rPr>
              <a:t>specs-only decision tree wins on test.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626364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202535"/>
                </a:solidFill>
                <a:latin typeface="Calibri"/>
              </a:rPr>
              <a:t>MAE $142k. 33% of guesses within $50k, 54% within $100k.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73152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1556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0">
                <a:solidFill>
                  <a:srgbClr val="FDB913"/>
                </a:solidFill>
                <a:latin typeface="Calibri"/>
              </a:rPr>
              <a:t>specs already carry the price signal.</a:t>
            </a:r>
          </a:p>
          <a:p>
            <a:pPr algn="l"/>
            <a:r>
              <a:rPr sz="2400" b="0">
                <a:solidFill>
                  <a:srgbClr val="FDB913"/>
                </a:solidFill>
                <a:latin typeface="Calibri"/>
              </a:rPr>
              <a:t>the photo, hand-summarized in numpy, does not add anything on top.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FDB913"/>
                </a:solidFill>
                <a:latin typeface="Calibri"/>
              </a:rPr>
              <a:t>what we learned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60520"/>
            <a:ext cx="1115568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feeding raw pixels doesn't work — too many inputs, too few examples,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and classical models can't see that adjacent pixels are related.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we built the principled fix: six hand-designed filters plus 4 x 4 pooling.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the model gets spatial info — sky on top, lawn on bottom, edges where the roof is.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this still doesn't beat specs.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the signal exists inside the photo, but recovering it needs filters that LEARN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what to look for. that's what CNNs do.  hand-designed kernels can only go so far.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