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gif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5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9728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000" b="1">
                <a:solidFill>
                  <a:srgbClr val="FFFFFF"/>
                </a:solidFill>
                <a:latin typeface="Calibri"/>
              </a:rPr>
              <a:t>House Price Prediction</a:t>
            </a:r>
          </a:p>
          <a:p>
            <a:pPr algn="l"/>
            <a:r>
              <a:rPr sz="5000" b="1">
                <a:solidFill>
                  <a:srgbClr val="FFFFFF"/>
                </a:solidFill>
                <a:latin typeface="Calibri"/>
              </a:rPr>
              <a:t>From Specs and Exterior Photos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4023360"/>
            <a:ext cx="1828800" cy="73152"/>
          </a:xfrm>
          <a:prstGeom prst="rect">
            <a:avLst/>
          </a:prstGeom>
          <a:solidFill>
            <a:srgbClr val="FDB9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2062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>
                <a:solidFill>
                  <a:srgbClr val="FDB913"/>
                </a:solidFill>
                <a:latin typeface="Calibri"/>
              </a:rPr>
              <a:t>CSU Bakersfield, CMPS 4450 Data Mining Final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8463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Noah Gallego, Gerardo Gomez, Justin Lo, Juancarlos Sandoval — Group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"/>
            <a:ext cx="228600" cy="822960"/>
          </a:xfrm>
          <a:prstGeom prst="rect">
            <a:avLst/>
          </a:prstGeom>
          <a:solidFill>
            <a:srgbClr val="FDB9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3594"/>
                </a:solidFill>
                <a:latin typeface="Calibri"/>
              </a:rPr>
              <a:t>The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606878"/>
                </a:solidFill>
                <a:latin typeface="Calibri"/>
              </a:rPr>
              <a:t>Specs Already Get Us Most of the Way. Can the Photo Close the Gap?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035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82880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003594"/>
                </a:solidFill>
                <a:latin typeface="Calibri"/>
              </a:rPr>
              <a:t>What We Know About Each House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331720"/>
            <a:ext cx="1115568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202535"/>
                </a:solidFill>
                <a:latin typeface="Calibri"/>
              </a:rPr>
              <a:t>Beds, baths, square footage, city, and one exterior photo.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93192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003594"/>
                </a:solidFill>
                <a:latin typeface="Calibri"/>
              </a:rPr>
              <a:t>The Experiment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434840"/>
            <a:ext cx="111556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202535"/>
                </a:solidFill>
                <a:latin typeface="Calibri"/>
              </a:rPr>
              <a:t>Fit a model on specs alone. Then add features from the photo.</a:t>
            </a:r>
          </a:p>
          <a:p>
            <a:pPr algn="l"/>
            <a:r>
              <a:rPr sz="2000" b="0">
                <a:solidFill>
                  <a:srgbClr val="202535"/>
                </a:solidFill>
                <a:latin typeface="Calibri"/>
              </a:rPr>
              <a:t>Does the second model beat the first?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"/>
            <a:ext cx="228600" cy="822960"/>
          </a:xfrm>
          <a:prstGeom prst="rect">
            <a:avLst/>
          </a:prstGeom>
          <a:solidFill>
            <a:srgbClr val="FDB9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3594"/>
                </a:solidFill>
                <a:latin typeface="Calibri"/>
              </a:rPr>
              <a:t>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606878"/>
                </a:solidFill>
                <a:latin typeface="Calibri"/>
              </a:rPr>
              <a:t>15,474 Southern California Listings, $195k to $2M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035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01_price_h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54480"/>
            <a:ext cx="5943600" cy="2821709"/>
          </a:xfrm>
          <a:prstGeom prst="rect">
            <a:avLst/>
          </a:prstGeom>
        </p:spPr>
      </p:pic>
      <p:pic>
        <p:nvPicPr>
          <p:cNvPr id="8" name="Picture 7" descr="fig03_top_citi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554480"/>
            <a:ext cx="5486400" cy="282632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"/>
            <a:ext cx="228600" cy="822960"/>
          </a:xfrm>
          <a:prstGeom prst="rect">
            <a:avLst/>
          </a:prstGeom>
          <a:solidFill>
            <a:srgbClr val="FDB9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3594"/>
                </a:solidFill>
                <a:latin typeface="Calibri"/>
              </a:rPr>
              <a:t>What a Row Looks Like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606878"/>
                </a:solidFill>
                <a:latin typeface="Calibri"/>
              </a:rPr>
              <a:t>One Photo Plus a Few Numeric Fields Per House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035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02_sample_hou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1417320"/>
            <a:ext cx="8841658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"/>
            <a:ext cx="228600" cy="822960"/>
          </a:xfrm>
          <a:prstGeom prst="rect">
            <a:avLst/>
          </a:prstGeom>
          <a:solidFill>
            <a:srgbClr val="FDB9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3594"/>
                </a:solidFill>
                <a:latin typeface="Calibri"/>
              </a:rPr>
              <a:t>Train, Validation,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606878"/>
                </a:solidFill>
                <a:latin typeface="Calibri"/>
              </a:rPr>
              <a:t>How We Use the 15,474 Listings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035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55448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003594"/>
                </a:solidFill>
                <a:latin typeface="Calibri"/>
              </a:rPr>
              <a:t>How We Set It 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65960"/>
            <a:ext cx="111556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>
                <a:solidFill>
                  <a:srgbClr val="202535"/>
                </a:solidFill>
                <a:latin typeface="Calibri"/>
              </a:rPr>
              <a:t>Shuffle the listings and split 65 / 15 / 20 into train, validation, and test</a:t>
            </a:r>
          </a:p>
          <a:p>
            <a:pPr algn="l"/>
            <a:r>
              <a:rPr sz="1700" b="0">
                <a:solidFill>
                  <a:srgbClr val="202535"/>
                </a:solidFill>
                <a:latin typeface="Calibri"/>
              </a:rPr>
              <a:t>Fit the models on train</a:t>
            </a:r>
          </a:p>
          <a:p>
            <a:pPr algn="l"/>
            <a:r>
              <a:rPr sz="1700" b="0">
                <a:solidFill>
                  <a:srgbClr val="202535"/>
                </a:solidFill>
                <a:latin typeface="Calibri"/>
              </a:rPr>
              <a:t>Pick the model and its settings (KNN k) by validation error</a:t>
            </a:r>
          </a:p>
          <a:p>
            <a:pPr algn="l"/>
            <a:r>
              <a:rPr sz="1700" b="0">
                <a:solidFill>
                  <a:srgbClr val="202535"/>
                </a:solidFill>
                <a:latin typeface="Calibri"/>
              </a:rPr>
              <a:t>Re-run the whole comparison on 500 random reshuffles to check stability</a:t>
            </a:r>
          </a:p>
          <a:p>
            <a:pPr algn="l"/>
            <a:r>
              <a:rPr sz="1700" b="0">
                <a:solidFill>
                  <a:srgbClr val="202535"/>
                </a:solidFill>
                <a:latin typeface="Calibri"/>
              </a:rPr>
              <a:t>Open the test set once, at the end, with every choice already locked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75488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003594"/>
                </a:solidFill>
                <a:latin typeface="Calibri"/>
              </a:rPr>
              <a:t>Why This 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166360"/>
            <a:ext cx="1115568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202535"/>
                </a:solidFill>
                <a:latin typeface="Calibri"/>
              </a:rPr>
              <a:t>One fixed split swings by several thousand dollars just from luck.</a:t>
            </a:r>
          </a:p>
          <a:p>
            <a:pPr algn="l"/>
            <a:r>
              <a:rPr sz="1600" b="0">
                <a:solidFill>
                  <a:srgbClr val="202535"/>
                </a:solidFill>
                <a:latin typeface="Calibri"/>
              </a:rPr>
              <a:t>The reshuffles smooth that out, and the test number stays honest because</a:t>
            </a:r>
          </a:p>
          <a:p>
            <a:pPr algn="l"/>
            <a:r>
              <a:rPr sz="1600" b="0">
                <a:solidFill>
                  <a:srgbClr val="202535"/>
                </a:solidFill>
                <a:latin typeface="Calibri"/>
              </a:rPr>
              <a:t>It never gets to inform a choice.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"/>
            <a:ext cx="228600" cy="822960"/>
          </a:xfrm>
          <a:prstGeom prst="rect">
            <a:avLst/>
          </a:prstGeom>
          <a:solidFill>
            <a:srgbClr val="FDB9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3594"/>
                </a:solidFill>
                <a:latin typeface="Calibri"/>
              </a:rPr>
              <a:t>Eight Columns From Kaggle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606878"/>
                </a:solidFill>
                <a:latin typeface="Calibri"/>
              </a:rPr>
              <a:t>What Arrived in the CSV, and What We Do With Each One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035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554480"/>
          <a:ext cx="111556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8560"/>
                <a:gridCol w="3718560"/>
                <a:gridCol w="3718560"/>
              </a:tblGrid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Column</a:t>
                      </a:r>
                    </a:p>
                  </a:txBody>
                  <a:tcPr>
                    <a:solidFill>
                      <a:srgbClr val="00359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Example</a:t>
                      </a:r>
                    </a:p>
                  </a:txBody>
                  <a:tcPr>
                    <a:solidFill>
                      <a:srgbClr val="00359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Action</a:t>
                      </a:r>
                    </a:p>
                  </a:txBody>
                  <a:tcPr>
                    <a:solidFill>
                      <a:srgbClr val="003594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02535"/>
                          </a:solidFill>
                          <a:latin typeface="Calibri"/>
                        </a:rPr>
                        <a:t>image_id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02535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02535"/>
                          </a:solidFill>
                          <a:latin typeface="Calibri"/>
                        </a:rPr>
                        <a:t>Drop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02535"/>
                          </a:solidFill>
                          <a:latin typeface="Calibri"/>
                        </a:rPr>
                        <a:t>street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02535"/>
                          </a:solidFill>
                          <a:latin typeface="Calibri"/>
                        </a:rPr>
                        <a:t>1317 Van Buren Avenue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02535"/>
                          </a:solidFill>
                          <a:latin typeface="Calibri"/>
                        </a:rPr>
                        <a:t>Drop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02535"/>
                          </a:solidFill>
                          <a:latin typeface="Calibri"/>
                        </a:rPr>
                        <a:t>citi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02535"/>
                          </a:solidFill>
                          <a:latin typeface="Calibri"/>
                        </a:rPr>
                        <a:t>Salton City, 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02535"/>
                          </a:solidFill>
                          <a:latin typeface="Calibri"/>
                        </a:rPr>
                        <a:t>Convert to coordinates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02535"/>
                          </a:solidFill>
                          <a:latin typeface="Calibri"/>
                        </a:rPr>
                        <a:t>n_citi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02535"/>
                          </a:solidFill>
                          <a:latin typeface="Calibri"/>
                        </a:rPr>
                        <a:t>317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02535"/>
                          </a:solidFill>
                          <a:latin typeface="Calibri"/>
                        </a:rPr>
                        <a:t>Drop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02535"/>
                          </a:solidFill>
                          <a:latin typeface="Calibri"/>
                        </a:rPr>
                        <a:t>bed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02535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02535"/>
                          </a:solidFill>
                          <a:latin typeface="Calibri"/>
                        </a:rPr>
                        <a:t>Keep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02535"/>
                          </a:solidFill>
                          <a:latin typeface="Calibri"/>
                        </a:rPr>
                        <a:t>bath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02535"/>
                          </a:solidFill>
                          <a:latin typeface="Calibri"/>
                        </a:rPr>
                        <a:t>2.0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02535"/>
                          </a:solidFill>
                          <a:latin typeface="Calibri"/>
                        </a:rPr>
                        <a:t>Keep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02535"/>
                          </a:solidFill>
                          <a:latin typeface="Calibri"/>
                        </a:rPr>
                        <a:t>sqft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02535"/>
                          </a:solidFill>
                          <a:latin typeface="Calibri"/>
                        </a:rPr>
                        <a:t>1,560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02535"/>
                          </a:solidFill>
                          <a:latin typeface="Calibri"/>
                        </a:rPr>
                        <a:t>Keep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02535"/>
                          </a:solidFill>
                          <a:latin typeface="Calibri"/>
                        </a:rPr>
                        <a:t>price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02535"/>
                          </a:solidFill>
                          <a:latin typeface="Calibri"/>
                        </a:rPr>
                        <a:t>$201,900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02535"/>
                          </a:solidFill>
                          <a:latin typeface="Calibri"/>
                        </a:rPr>
                        <a:t>Target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"/>
            <a:ext cx="228600" cy="822960"/>
          </a:xfrm>
          <a:prstGeom prst="rect">
            <a:avLst/>
          </a:prstGeom>
          <a:solidFill>
            <a:srgbClr val="FDB9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3594"/>
                </a:solidFill>
                <a:latin typeface="Calibri"/>
              </a:rPr>
              <a:t>City Names Become Coordinates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606878"/>
                </a:solidFill>
                <a:latin typeface="Calibri"/>
              </a:rPr>
              <a:t>We Look Each City Up Once With a Geocoding API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035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73736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003594"/>
                </a:solidFill>
                <a:latin typeface="Calibri"/>
              </a:rPr>
              <a:t>The Lookup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2286000"/>
          <a:ext cx="1115568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8560"/>
                <a:gridCol w="3718560"/>
                <a:gridCol w="3718560"/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City</a:t>
                      </a:r>
                    </a:p>
                  </a:txBody>
                  <a:tcPr>
                    <a:solidFill>
                      <a:srgbClr val="00359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Latitude</a:t>
                      </a:r>
                    </a:p>
                  </a:txBody>
                  <a:tcPr>
                    <a:solidFill>
                      <a:srgbClr val="00359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Longitude</a:t>
                      </a:r>
                    </a:p>
                  </a:txBody>
                  <a:tcPr>
                    <a:solidFill>
                      <a:srgbClr val="00359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02535"/>
                          </a:solidFill>
                          <a:latin typeface="Calibri"/>
                        </a:rPr>
                        <a:t>Beverly Hills, 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02535"/>
                          </a:solidFill>
                          <a:latin typeface="Calibri"/>
                        </a:rPr>
                        <a:t>34.0736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02535"/>
                          </a:solidFill>
                          <a:latin typeface="Calibri"/>
                        </a:rPr>
                        <a:t>-118.4004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02535"/>
                          </a:solidFill>
                          <a:latin typeface="Calibri"/>
                        </a:rPr>
                        <a:t>San Diego, CA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02535"/>
                          </a:solidFill>
                          <a:latin typeface="Calibri"/>
                        </a:rPr>
                        <a:t>32.7157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02535"/>
                          </a:solidFill>
                          <a:latin typeface="Calibri"/>
                        </a:rPr>
                        <a:t>-117.1611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02535"/>
                          </a:solidFill>
                          <a:latin typeface="Calibri"/>
                        </a:rPr>
                        <a:t>Bakersfield, 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02535"/>
                          </a:solidFill>
                          <a:latin typeface="Calibri"/>
                        </a:rPr>
                        <a:t>35.3733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02535"/>
                          </a:solidFill>
                          <a:latin typeface="Calibri"/>
                        </a:rPr>
                        <a:t>-119.0187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02535"/>
                          </a:solidFill>
                          <a:latin typeface="Calibri"/>
                        </a:rPr>
                        <a:t>Salton City, CA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02535"/>
                          </a:solidFill>
                          <a:latin typeface="Calibri"/>
                        </a:rPr>
                        <a:t>33.3030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02535"/>
                          </a:solidFill>
                          <a:latin typeface="Calibri"/>
                        </a:rPr>
                        <a:t>-115.9486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457200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003594"/>
                </a:solidFill>
                <a:latin typeface="Calibri"/>
              </a:rPr>
              <a:t>Why This Works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074920"/>
            <a:ext cx="111556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202535"/>
                </a:solidFill>
                <a:latin typeface="Calibri"/>
              </a:rPr>
              <a:t>415 unique cities  =&gt;  415 API calls, cached once on disk.</a:t>
            </a:r>
          </a:p>
          <a:p>
            <a:pPr algn="l"/>
            <a:r>
              <a:rPr sz="1600" b="0">
                <a:solidFill>
                  <a:srgbClr val="202535"/>
                </a:solidFill>
                <a:latin typeface="Calibri"/>
              </a:rPr>
              <a:t>Every row gets its city's latitude and longitude.</a:t>
            </a:r>
          </a:p>
          <a:p>
            <a:pPr algn="l"/>
            <a:r>
              <a:rPr sz="1600" b="0">
                <a:solidFill>
                  <a:srgbClr val="202535"/>
                </a:solidFill>
                <a:latin typeface="Calibri"/>
              </a:rPr>
              <a:t>Now 'nearest neighbor' actually means geographically near, not just same city name.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"/>
            <a:ext cx="228600" cy="822960"/>
          </a:xfrm>
          <a:prstGeom prst="rect">
            <a:avLst/>
          </a:prstGeom>
          <a:solidFill>
            <a:srgbClr val="FDB9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3594"/>
                </a:solidFill>
                <a:latin typeface="Calibri"/>
              </a:rPr>
              <a:t>Why k=10?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606878"/>
                </a:solidFill>
                <a:latin typeface="Calibri"/>
              </a:rPr>
              <a:t>Elbow Method on 415 City Coordinates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035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22_elb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54480"/>
            <a:ext cx="7772400" cy="446499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"/>
            <a:ext cx="228600" cy="822960"/>
          </a:xfrm>
          <a:prstGeom prst="rect">
            <a:avLst/>
          </a:prstGeom>
          <a:solidFill>
            <a:srgbClr val="FDB9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3594"/>
                </a:solidFill>
                <a:latin typeface="Calibri"/>
              </a:rPr>
              <a:t>Grouping Cities Into Regions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606878"/>
                </a:solidFill>
                <a:latin typeface="Calibri"/>
              </a:rPr>
              <a:t>K-Means on the 415 City Coordinates, k=10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035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22_reg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0"/>
            <a:ext cx="8825763" cy="457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778240" y="182880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003594"/>
                </a:solidFill>
                <a:latin typeface="Calibri"/>
              </a:rPr>
              <a:t>The Idea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0" y="2377440"/>
            <a:ext cx="310896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202535"/>
                </a:solidFill>
                <a:latin typeface="Calibri"/>
              </a:rPr>
              <a:t>K-means takes the</a:t>
            </a:r>
          </a:p>
          <a:p>
            <a:pPr algn="l"/>
            <a:r>
              <a:rPr sz="1400" b="0">
                <a:solidFill>
                  <a:srgbClr val="202535"/>
                </a:solidFill>
                <a:latin typeface="Calibri"/>
              </a:rPr>
              <a:t>Coordinates and groups</a:t>
            </a:r>
          </a:p>
          <a:p>
            <a:pPr algn="l"/>
            <a:r>
              <a:rPr sz="1400" b="0">
                <a:solidFill>
                  <a:srgbClr val="202535"/>
                </a:solidFill>
                <a:latin typeface="Calibri"/>
              </a:rPr>
              <a:t>Nearby cities together.</a:t>
            </a:r>
          </a:p>
          <a:p>
            <a:pPr algn="l"/>
            <a:r>
              <a:rPr sz="1400" b="0">
                <a:solidFill>
                  <a:srgbClr val="202535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202535"/>
                </a:solidFill>
                <a:latin typeface="Calibri"/>
              </a:rPr>
              <a:t>Every row gets one</a:t>
            </a:r>
          </a:p>
          <a:p>
            <a:pPr algn="l"/>
            <a:r>
              <a:rPr sz="1400" b="0">
                <a:solidFill>
                  <a:srgbClr val="202535"/>
                </a:solidFill>
                <a:latin typeface="Calibri"/>
              </a:rPr>
              <a:t>Extra feature: region_id.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"/>
            <a:ext cx="228600" cy="822960"/>
          </a:xfrm>
          <a:prstGeom prst="rect">
            <a:avLst/>
          </a:prstGeom>
          <a:solidFill>
            <a:srgbClr val="FDB9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3594"/>
                </a:solidFill>
                <a:latin typeface="Calibri"/>
              </a:rPr>
              <a:t>Normalize So No Column Dominates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606878"/>
                </a:solidFill>
                <a:latin typeface="Calibri"/>
              </a:rPr>
              <a:t>Rescale Every Feature to the Same Range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035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737360"/>
          <a:ext cx="1115568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8560"/>
                <a:gridCol w="3718560"/>
                <a:gridCol w="3718560"/>
              </a:tblGrid>
              <a:tr h="509451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Feature</a:t>
                      </a:r>
                    </a:p>
                  </a:txBody>
                  <a:tcPr>
                    <a:solidFill>
                      <a:srgbClr val="00359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Raw Range</a:t>
                      </a:r>
                    </a:p>
                  </a:txBody>
                  <a:tcPr>
                    <a:solidFill>
                      <a:srgbClr val="00359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After Min-Max</a:t>
                      </a:r>
                    </a:p>
                  </a:txBody>
                  <a:tcPr>
                    <a:solidFill>
                      <a:srgbClr val="003594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02535"/>
                          </a:solidFill>
                          <a:latin typeface="Calibri"/>
                        </a:rPr>
                        <a:t>bed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02535"/>
                          </a:solidFill>
                          <a:latin typeface="Calibri"/>
                        </a:rPr>
                        <a:t>1 to 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02535"/>
                          </a:solidFill>
                          <a:latin typeface="Calibri"/>
                        </a:rPr>
                        <a:t>0 to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02535"/>
                          </a:solidFill>
                          <a:latin typeface="Calibri"/>
                        </a:rPr>
                        <a:t>bath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02535"/>
                          </a:solidFill>
                          <a:latin typeface="Calibri"/>
                        </a:rPr>
                        <a:t>1 to 5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02535"/>
                          </a:solidFill>
                          <a:latin typeface="Calibri"/>
                        </a:rPr>
                        <a:t>0 to 1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02535"/>
                          </a:solidFill>
                          <a:latin typeface="Calibri"/>
                        </a:rPr>
                        <a:t>sqft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02535"/>
                          </a:solidFill>
                          <a:latin typeface="Calibri"/>
                        </a:rPr>
                        <a:t>500 to 5,400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02535"/>
                          </a:solidFill>
                          <a:latin typeface="Calibri"/>
                        </a:rPr>
                        <a:t>0 to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02535"/>
                          </a:solidFill>
                          <a:latin typeface="Calibri"/>
                        </a:rPr>
                        <a:t>city_lat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02535"/>
                          </a:solidFill>
                          <a:latin typeface="Calibri"/>
                        </a:rPr>
                        <a:t>32.5 to 35.4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02535"/>
                          </a:solidFill>
                          <a:latin typeface="Calibri"/>
                        </a:rPr>
                        <a:t>0 to 1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02535"/>
                          </a:solidFill>
                          <a:latin typeface="Calibri"/>
                        </a:rPr>
                        <a:t>city_lon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02535"/>
                          </a:solidFill>
                          <a:latin typeface="Calibri"/>
                        </a:rPr>
                        <a:t>-119.5 to -114.5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02535"/>
                          </a:solidFill>
                          <a:latin typeface="Calibri"/>
                        </a:rPr>
                        <a:t>0 to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9454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02535"/>
                          </a:solidFill>
                          <a:latin typeface="Calibri"/>
                        </a:rPr>
                        <a:t>region_id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02535"/>
                          </a:solidFill>
                          <a:latin typeface="Calibri"/>
                        </a:rPr>
                        <a:t>0 to 9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02535"/>
                          </a:solidFill>
                          <a:latin typeface="Calibri"/>
                        </a:rPr>
                        <a:t>0 to 1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"/>
            <a:ext cx="228600" cy="822960"/>
          </a:xfrm>
          <a:prstGeom prst="rect">
            <a:avLst/>
          </a:prstGeom>
          <a:solidFill>
            <a:srgbClr val="FDB9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3594"/>
                </a:solidFill>
                <a:latin typeface="Calibri"/>
              </a:rPr>
              <a:t>Two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606878"/>
                </a:solidFill>
                <a:latin typeface="Calibri"/>
              </a:rPr>
              <a:t>To Establish a Text-Only Baseline Before We Touch the Photos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035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737360"/>
            <a:ext cx="5486400" cy="548640"/>
          </a:xfrm>
          <a:prstGeom prst="rect">
            <a:avLst/>
          </a:prstGeom>
          <a:solidFill>
            <a:srgbClr val="0035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82880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Multiple Linear Regression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606040"/>
            <a:ext cx="512064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202535"/>
                </a:solidFill>
                <a:latin typeface="Calibri"/>
              </a:rPr>
              <a:t>One weight per feature, all summed plus an intercept.</a:t>
            </a:r>
          </a:p>
          <a:p>
            <a:pPr algn="l"/>
            <a:r>
              <a:rPr sz="1500" b="0">
                <a:solidFill>
                  <a:srgbClr val="202535"/>
                </a:solidFill>
                <a:latin typeface="Calibri"/>
              </a:rPr>
              <a:t/>
            </a:r>
          </a:p>
          <a:p>
            <a:pPr algn="l"/>
            <a:r>
              <a:rPr sz="1500" b="0">
                <a:solidFill>
                  <a:srgbClr val="202535"/>
                </a:solidFill>
                <a:latin typeface="Calibri"/>
              </a:rPr>
              <a:t>Prediction =</a:t>
            </a:r>
          </a:p>
          <a:p>
            <a:pPr algn="l"/>
            <a:r>
              <a:rPr sz="1500" b="0">
                <a:solidFill>
                  <a:srgbClr val="202535"/>
                </a:solidFill>
                <a:latin typeface="Calibri"/>
              </a:rPr>
              <a:t>w1*bed + w2*bath + w3*sqft</a:t>
            </a:r>
          </a:p>
          <a:p>
            <a:pPr algn="l"/>
            <a:r>
              <a:rPr sz="1500" b="0">
                <a:solidFill>
                  <a:srgbClr val="202535"/>
                </a:solidFill>
                <a:latin typeface="Calibri"/>
              </a:rPr>
              <a:t>+ w4*city_lat + w5*city_lon + w6*region.</a:t>
            </a:r>
          </a:p>
          <a:p>
            <a:pPr algn="l"/>
            <a:r>
              <a:rPr sz="1500" b="0">
                <a:solidFill>
                  <a:srgbClr val="202535"/>
                </a:solidFill>
                <a:latin typeface="Calibri"/>
              </a:rPr>
              <a:t/>
            </a:r>
          </a:p>
          <a:p>
            <a:pPr algn="l"/>
            <a:r>
              <a:rPr sz="1500" b="0">
                <a:solidFill>
                  <a:srgbClr val="202535"/>
                </a:solidFill>
                <a:latin typeface="Calibri"/>
              </a:rPr>
              <a:t>Fast and transparent. Assumes the relationship</a:t>
            </a:r>
          </a:p>
          <a:p>
            <a:pPr algn="l"/>
            <a:r>
              <a:rPr sz="1500" b="0">
                <a:solidFill>
                  <a:srgbClr val="202535"/>
                </a:solidFill>
                <a:latin typeface="Calibri"/>
              </a:rPr>
              <a:t>is a straight line.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737360"/>
            <a:ext cx="5486400" cy="548640"/>
          </a:xfrm>
          <a:prstGeom prst="rect">
            <a:avLst/>
          </a:prstGeom>
          <a:solidFill>
            <a:srgbClr val="0035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82880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KNN Regressor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606040"/>
            <a:ext cx="512064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202535"/>
                </a:solidFill>
                <a:latin typeface="Calibri"/>
              </a:rPr>
              <a:t>For a new house, find the k closest houses in</a:t>
            </a:r>
          </a:p>
          <a:p>
            <a:pPr algn="l"/>
            <a:r>
              <a:rPr sz="1500" b="0">
                <a:solidFill>
                  <a:srgbClr val="202535"/>
                </a:solidFill>
                <a:latin typeface="Calibri"/>
              </a:rPr>
              <a:t>feature space.</a:t>
            </a:r>
          </a:p>
          <a:p>
            <a:pPr algn="l"/>
            <a:r>
              <a:rPr sz="1500" b="0">
                <a:solidFill>
                  <a:srgbClr val="202535"/>
                </a:solidFill>
                <a:latin typeface="Calibri"/>
              </a:rPr>
              <a:t/>
            </a:r>
          </a:p>
          <a:p>
            <a:pPr algn="l"/>
            <a:r>
              <a:rPr sz="1500" b="0">
                <a:solidFill>
                  <a:srgbClr val="202535"/>
                </a:solidFill>
                <a:latin typeface="Calibri"/>
              </a:rPr>
              <a:t>Predict by averaging their prices</a:t>
            </a:r>
          </a:p>
          <a:p>
            <a:pPr algn="l"/>
            <a:r>
              <a:rPr sz="1500" b="0">
                <a:solidFill>
                  <a:srgbClr val="202535"/>
                </a:solidFill>
                <a:latin typeface="Calibri"/>
              </a:rPr>
              <a:t>(regression, not voting).</a:t>
            </a:r>
          </a:p>
          <a:p>
            <a:pPr algn="l"/>
            <a:r>
              <a:rPr sz="1500" b="0">
                <a:solidFill>
                  <a:srgbClr val="202535"/>
                </a:solidFill>
                <a:latin typeface="Calibri"/>
              </a:rPr>
              <a:t/>
            </a:r>
          </a:p>
          <a:p>
            <a:pPr algn="l"/>
            <a:r>
              <a:rPr sz="1500" b="0">
                <a:solidFill>
                  <a:srgbClr val="202535"/>
                </a:solidFill>
                <a:latin typeface="Calibri"/>
              </a:rPr>
              <a:t>Needs normalized features. Tuned by k</a:t>
            </a:r>
          </a:p>
          <a:p>
            <a:pPr algn="l"/>
            <a:r>
              <a:rPr sz="1500" b="0">
                <a:solidFill>
                  <a:srgbClr val="202535"/>
                </a:solidFill>
                <a:latin typeface="Calibri"/>
              </a:rPr>
              <a:t>and by the distance function.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"/>
            <a:ext cx="228600" cy="822960"/>
          </a:xfrm>
          <a:prstGeom prst="rect">
            <a:avLst/>
          </a:prstGeom>
          <a:solidFill>
            <a:srgbClr val="FDB9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3594"/>
                </a:solidFill>
                <a:latin typeface="Calibri"/>
              </a:rPr>
              <a:t>Multiple Linear Regression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606878"/>
                </a:solidFill>
                <a:latin typeface="Calibri"/>
              </a:rPr>
              <a:t>Validation Performance, Predicted vs Actual Price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035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23_mlr_pred_vs_act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17320"/>
            <a:ext cx="5064930" cy="51206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0" y="1737360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003594"/>
                </a:solidFill>
                <a:latin typeface="Calibri"/>
              </a:rPr>
              <a:t>Results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51460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>
                <a:solidFill>
                  <a:srgbClr val="606878"/>
                </a:solidFill>
                <a:latin typeface="Calibri"/>
              </a:rPr>
              <a:t>MAE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2514600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202535"/>
                </a:solidFill>
                <a:latin typeface="Calibri"/>
              </a:rPr>
              <a:t>$200k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333756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>
                <a:solidFill>
                  <a:srgbClr val="606878"/>
                </a:solidFill>
                <a:latin typeface="Calibri"/>
              </a:rPr>
              <a:t>RMSE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3337560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202535"/>
                </a:solidFill>
                <a:latin typeface="Calibri"/>
              </a:rPr>
              <a:t>$280k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"/>
            <a:ext cx="228600" cy="822960"/>
          </a:xfrm>
          <a:prstGeom prst="rect">
            <a:avLst/>
          </a:prstGeom>
          <a:solidFill>
            <a:srgbClr val="FDB9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3594"/>
                </a:solidFill>
                <a:latin typeface="Calibri"/>
              </a:rPr>
              <a:t>KNN With Euclidean Distance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606878"/>
                </a:solidFill>
                <a:latin typeface="Calibri"/>
              </a:rPr>
              <a:t>Each Box Summarizes 500 Random Reshuffles at That k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035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24_knn_euclid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11247120" cy="542007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"/>
            <a:ext cx="228600" cy="822960"/>
          </a:xfrm>
          <a:prstGeom prst="rect">
            <a:avLst/>
          </a:prstGeom>
          <a:solidFill>
            <a:srgbClr val="FDB9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3594"/>
                </a:solidFill>
                <a:latin typeface="Calibri"/>
              </a:rPr>
              <a:t>We Repeated This for All Four Distance Functions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606878"/>
                </a:solidFill>
                <a:latin typeface="Calibri"/>
              </a:rPr>
              <a:t>Euclidean, Manhattan, Chebyshev, Minkowski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035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20_knn_distan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63040"/>
            <a:ext cx="11612880" cy="62115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"/>
            <a:ext cx="228600" cy="822960"/>
          </a:xfrm>
          <a:prstGeom prst="rect">
            <a:avLst/>
          </a:prstGeom>
          <a:solidFill>
            <a:srgbClr val="FDB9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3594"/>
                </a:solidFill>
                <a:latin typeface="Calibri"/>
              </a:rPr>
              <a:t>Specs Only Is Already Strong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606878"/>
                </a:solidFill>
                <a:latin typeface="Calibri"/>
              </a:rPr>
              <a:t>Error in Dollars, Lower Is Better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035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05_baseline_box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54480"/>
            <a:ext cx="8046720" cy="436346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86800" y="182880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003594"/>
                </a:solidFill>
                <a:latin typeface="Calibri"/>
              </a:rPr>
              <a:t>Specs-Only Baseline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2468880"/>
            <a:ext cx="32004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202535"/>
                </a:solidFill>
                <a:latin typeface="Calibri"/>
              </a:rPr>
              <a:t>500 reshuffles,</a:t>
            </a:r>
          </a:p>
          <a:p>
            <a:pPr algn="l"/>
            <a:r>
              <a:rPr sz="1600" b="0">
                <a:solidFill>
                  <a:srgbClr val="202535"/>
                </a:solidFill>
                <a:latin typeface="Calibri"/>
              </a:rPr>
              <a:t>specs-only models.</a:t>
            </a:r>
          </a:p>
          <a:p>
            <a:pPr algn="l"/>
            <a:r>
              <a:rPr sz="1600" b="0">
                <a:solidFill>
                  <a:srgbClr val="202535"/>
                </a:solidFill>
                <a:latin typeface="Calibri"/>
              </a:rPr>
              <a:t/>
            </a:r>
          </a:p>
          <a:p>
            <a:pPr algn="l"/>
            <a:r>
              <a:rPr sz="1600" b="0">
                <a:solidFill>
                  <a:srgbClr val="202535"/>
                </a:solidFill>
                <a:latin typeface="Calibri"/>
              </a:rPr>
              <a:t>KNN around $152k MAE.</a:t>
            </a:r>
          </a:p>
          <a:p>
            <a:pPr algn="l"/>
            <a:r>
              <a:rPr sz="1600" b="0">
                <a:solidFill>
                  <a:srgbClr val="202535"/>
                </a:solidFill>
                <a:latin typeface="Calibri"/>
              </a:rPr>
              <a:t>Linear around $164k.</a:t>
            </a:r>
          </a:p>
          <a:p>
            <a:pPr algn="l"/>
            <a:r>
              <a:rPr sz="1600" b="0">
                <a:solidFill>
                  <a:srgbClr val="202535"/>
                </a:solidFill>
                <a:latin typeface="Calibri"/>
              </a:rPr>
              <a:t/>
            </a:r>
          </a:p>
          <a:p>
            <a:pPr algn="l"/>
            <a:r>
              <a:rPr sz="1600" b="0">
                <a:solidFill>
                  <a:srgbClr val="202535"/>
                </a:solidFill>
                <a:latin typeface="Calibri"/>
              </a:rPr>
              <a:t>Both are well above</a:t>
            </a:r>
          </a:p>
          <a:p>
            <a:pPr algn="l"/>
            <a:r>
              <a:rPr sz="1600" b="0">
                <a:solidFill>
                  <a:srgbClr val="202535"/>
                </a:solidFill>
                <a:latin typeface="Calibri"/>
              </a:rPr>
              <a:t>the constant predictor</a:t>
            </a:r>
          </a:p>
          <a:p>
            <a:pPr algn="l"/>
            <a:r>
              <a:rPr sz="1600" b="0">
                <a:solidFill>
                  <a:srgbClr val="202535"/>
                </a:solidFill>
                <a:latin typeface="Calibri"/>
              </a:rPr>
              <a:t>at $280k.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"/>
            <a:ext cx="228600" cy="822960"/>
          </a:xfrm>
          <a:prstGeom prst="rect">
            <a:avLst/>
          </a:prstGeom>
          <a:solidFill>
            <a:srgbClr val="FDB9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3594"/>
                </a:solidFill>
                <a:latin typeface="Calibri"/>
              </a:rPr>
              <a:t>Where the Baseline Misses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606878"/>
                </a:solidFill>
                <a:latin typeface="Calibri"/>
              </a:rPr>
              <a:t>The Top Six Errors Split Into Two Kinds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035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07_worst_mis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1417320"/>
            <a:ext cx="8044586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"/>
            <a:ext cx="228600" cy="822960"/>
          </a:xfrm>
          <a:prstGeom prst="rect">
            <a:avLst/>
          </a:prstGeom>
          <a:solidFill>
            <a:srgbClr val="FDB9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3594"/>
                </a:solidFill>
                <a:latin typeface="Calibri"/>
              </a:rPr>
              <a:t>Three Things the Photo Could Fix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606878"/>
                </a:solidFill>
                <a:latin typeface="Calibri"/>
              </a:rPr>
              <a:t>The Case for Adding Image Features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035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2011680"/>
            <a:ext cx="3657600" cy="502920"/>
          </a:xfrm>
          <a:prstGeom prst="rect">
            <a:avLst/>
          </a:prstGeom>
          <a:solidFill>
            <a:srgbClr val="0035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075688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Condition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88920"/>
            <a:ext cx="338328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>
                <a:solidFill>
                  <a:srgbClr val="202535"/>
                </a:solidFill>
                <a:latin typeface="Calibri"/>
              </a:rPr>
              <a:t>Same specs, different</a:t>
            </a:r>
          </a:p>
          <a:p>
            <a:pPr algn="l"/>
            <a:r>
              <a:rPr sz="1700" b="0">
                <a:solidFill>
                  <a:srgbClr val="202535"/>
                </a:solidFill>
                <a:latin typeface="Calibri"/>
              </a:rPr>
              <a:t>upkeep and landscaping.</a:t>
            </a:r>
          </a:p>
          <a:p>
            <a:pPr algn="l"/>
            <a:r>
              <a:rPr sz="1700" b="0">
                <a:solidFill>
                  <a:srgbClr val="202535"/>
                </a:solidFill>
                <a:latin typeface="Calibri"/>
              </a:rPr>
              <a:t>That lives in the photo.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34840" y="2011680"/>
            <a:ext cx="3657600" cy="502920"/>
          </a:xfrm>
          <a:prstGeom prst="rect">
            <a:avLst/>
          </a:prstGeom>
          <a:solidFill>
            <a:srgbClr val="0035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075688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Size Beyond Sqft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788920"/>
            <a:ext cx="338328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>
                <a:solidFill>
                  <a:srgbClr val="202535"/>
                </a:solidFill>
                <a:latin typeface="Calibri"/>
              </a:rPr>
              <a:t>Story count, lot size,</a:t>
            </a:r>
          </a:p>
          <a:p>
            <a:pPr algn="l"/>
            <a:r>
              <a:rPr sz="1700" b="0">
                <a:solidFill>
                  <a:srgbClr val="202535"/>
                </a:solidFill>
                <a:latin typeface="Calibri"/>
              </a:rPr>
              <a:t>yard space. Specs miss</a:t>
            </a:r>
          </a:p>
          <a:p>
            <a:pPr algn="l"/>
            <a:r>
              <a:rPr sz="1700" b="0">
                <a:solidFill>
                  <a:srgbClr val="202535"/>
                </a:solidFill>
                <a:latin typeface="Calibri"/>
              </a:rPr>
              <a:t>those. The photo doesn't.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66760" y="2011680"/>
            <a:ext cx="3657600" cy="502920"/>
          </a:xfrm>
          <a:prstGeom prst="rect">
            <a:avLst/>
          </a:prstGeom>
          <a:solidFill>
            <a:srgbClr val="0035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2075688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Neighborhood Look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2788920"/>
            <a:ext cx="338328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>
                <a:solidFill>
                  <a:srgbClr val="202535"/>
                </a:solidFill>
                <a:latin typeface="Calibri"/>
              </a:rPr>
              <a:t>Trees, driveway, fencing,</a:t>
            </a:r>
          </a:p>
          <a:p>
            <a:pPr algn="l"/>
            <a:r>
              <a:rPr sz="1700" b="0">
                <a:solidFill>
                  <a:srgbClr val="202535"/>
                </a:solidFill>
                <a:latin typeface="Calibri"/>
              </a:rPr>
              <a:t>lighting. Signals the</a:t>
            </a:r>
          </a:p>
          <a:p>
            <a:pPr algn="l"/>
            <a:r>
              <a:rPr sz="1700" b="0">
                <a:solidFill>
                  <a:srgbClr val="202535"/>
                </a:solidFill>
                <a:latin typeface="Calibri"/>
              </a:rPr>
              <a:t>street, not just the city.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"/>
            <a:ext cx="228600" cy="822960"/>
          </a:xfrm>
          <a:prstGeom prst="rect">
            <a:avLst/>
          </a:prstGeom>
          <a:solidFill>
            <a:srgbClr val="FDB9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3594"/>
                </a:solidFill>
                <a:latin typeface="Calibri"/>
              </a:rPr>
              <a:t>Adding Photo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606878"/>
                </a:solidFill>
                <a:latin typeface="Calibri"/>
              </a:rPr>
              <a:t>Same Two Models, With and Without the Photo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035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11_specs_vs_image_box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54480"/>
            <a:ext cx="872322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"/>
            <a:ext cx="228600" cy="822960"/>
          </a:xfrm>
          <a:prstGeom prst="rect">
            <a:avLst/>
          </a:prstGeom>
          <a:solidFill>
            <a:srgbClr val="FDB9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3594"/>
                </a:solidFill>
                <a:latin typeface="Calibri"/>
              </a:rPr>
              <a:t>What We Tried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606878"/>
                </a:solidFill>
                <a:latin typeface="Calibri"/>
              </a:rPr>
              <a:t>Three Preprocessing Fixes, Each Motivated by a Problem Above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035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82880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003594"/>
                </a:solidFill>
                <a:latin typeface="Calibri"/>
              </a:rPr>
              <a:t>Center Crop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182880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202535"/>
                </a:solidFill>
                <a:latin typeface="Calibri"/>
              </a:rPr>
              <a:t>Throw out the outer 20% on every side, focus on what's in the middle of the frame.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224028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06878"/>
                </a:solidFill>
                <a:latin typeface="Calibri"/>
              </a:rPr>
              <a:t>Addresses photos where sky or pavement dominates.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01752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003594"/>
                </a:solidFill>
                <a:latin typeface="Calibri"/>
              </a:rPr>
              <a:t>Per-Image Normalize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301752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202535"/>
                </a:solidFill>
                <a:latin typeface="Calibri"/>
              </a:rPr>
              <a:t>Rescale each photo so its mean brightness matches every other photo.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342900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06878"/>
                </a:solidFill>
                <a:latin typeface="Calibri"/>
              </a:rPr>
              <a:t>Addresses photos shot at different times of day or different exposures.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20624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003594"/>
                </a:solidFill>
                <a:latin typeface="Calibri"/>
              </a:rPr>
              <a:t>Add HSV Channels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420624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202535"/>
                </a:solidFill>
                <a:latin typeface="Calibri"/>
              </a:rPr>
              <a:t>Compute hue, saturation, and value averages on top of RGB.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461772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06878"/>
                </a:solidFill>
                <a:latin typeface="Calibri"/>
              </a:rPr>
              <a:t>Color signal that doesn't change with brightness.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"/>
            <a:ext cx="228600" cy="822960"/>
          </a:xfrm>
          <a:prstGeom prst="rect">
            <a:avLst/>
          </a:prstGeom>
          <a:solidFill>
            <a:srgbClr val="FDB9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3594"/>
                </a:solidFill>
                <a:latin typeface="Calibri"/>
              </a:rPr>
              <a:t>Did Preprocessing Help?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606878"/>
                </a:solidFill>
                <a:latin typeface="Calibri"/>
              </a:rPr>
              <a:t>Validation MAE by Feature Variant, Linear and KNN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035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4206240" cy="502920"/>
          </a:xfrm>
          <a:prstGeom prst="rect">
            <a:avLst/>
          </a:prstGeom>
          <a:solidFill>
            <a:srgbClr val="003594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Feature Variant</a:t>
            </a:r>
          </a:p>
        </p:txBody>
      </p:sp>
      <p:sp>
        <p:nvSpPr>
          <p:cNvPr id="8" name="Rectangle 7"/>
          <p:cNvSpPr/>
          <p:nvPr/>
        </p:nvSpPr>
        <p:spPr>
          <a:xfrm>
            <a:off x="4846320" y="1828800"/>
            <a:ext cx="2194560" cy="502920"/>
          </a:xfrm>
          <a:prstGeom prst="rect">
            <a:avLst/>
          </a:prstGeom>
          <a:solidFill>
            <a:srgbClr val="003594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Linear MAE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0" y="1828800"/>
            <a:ext cx="2194560" cy="502920"/>
          </a:xfrm>
          <a:prstGeom prst="rect">
            <a:avLst/>
          </a:prstGeom>
          <a:solidFill>
            <a:srgbClr val="003594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KNN MAE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35440" y="1828800"/>
            <a:ext cx="2194560" cy="502920"/>
          </a:xfrm>
          <a:prstGeom prst="rect">
            <a:avLst/>
          </a:prstGeom>
          <a:solidFill>
            <a:srgbClr val="003594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Best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331720"/>
            <a:ext cx="4206240" cy="502920"/>
          </a:xfrm>
          <a:prstGeom prst="rect">
            <a:avLst/>
          </a:prstGeom>
          <a:solidFill>
            <a:srgbClr val="FFF4D0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/>
          <a:lstStyle/>
          <a:p>
            <a:pPr algn="ctr"/>
            <a:r>
              <a:rPr sz="1400" b="0">
                <a:solidFill>
                  <a:srgbClr val="202535"/>
                </a:solidFill>
                <a:latin typeface="Calibri"/>
              </a:rPr>
              <a:t>Specs Only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46320" y="2331720"/>
            <a:ext cx="2194560" cy="502920"/>
          </a:xfrm>
          <a:prstGeom prst="rect">
            <a:avLst/>
          </a:prstGeom>
          <a:solidFill>
            <a:srgbClr val="FFF4D0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/>
          <a:lstStyle/>
          <a:p>
            <a:pPr algn="ctr"/>
            <a:r>
              <a:rPr sz="1400" b="0">
                <a:solidFill>
                  <a:srgbClr val="202535"/>
                </a:solidFill>
                <a:latin typeface="Calibri"/>
              </a:rPr>
              <a:t>$165k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40880" y="2331720"/>
            <a:ext cx="2194560" cy="502920"/>
          </a:xfrm>
          <a:prstGeom prst="rect">
            <a:avLst/>
          </a:prstGeom>
          <a:solidFill>
            <a:srgbClr val="FFF4D0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/>
          <a:lstStyle/>
          <a:p>
            <a:pPr algn="ctr"/>
            <a:r>
              <a:rPr sz="1400" b="0">
                <a:solidFill>
                  <a:srgbClr val="202535"/>
                </a:solidFill>
                <a:latin typeface="Calibri"/>
              </a:rPr>
              <a:t>$150k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235440" y="2331720"/>
            <a:ext cx="2194560" cy="502920"/>
          </a:xfrm>
          <a:prstGeom prst="rect">
            <a:avLst/>
          </a:prstGeom>
          <a:solidFill>
            <a:srgbClr val="FFF4D0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/>
          <a:lstStyle/>
          <a:p>
            <a:pPr algn="ctr"/>
            <a:r>
              <a:rPr sz="1400" b="1">
                <a:solidFill>
                  <a:srgbClr val="202535"/>
                </a:solidFill>
                <a:latin typeface="Calibri"/>
              </a:rPr>
              <a:t>$150k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834640"/>
            <a:ext cx="4206240" cy="502920"/>
          </a:xfrm>
          <a:prstGeom prst="rect">
            <a:avLst/>
          </a:prstGeom>
          <a:solidFill>
            <a:srgbClr val="F5F7FB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/>
          <a:lstStyle/>
          <a:p>
            <a:pPr algn="ctr"/>
            <a:r>
              <a:rPr sz="1400" b="0">
                <a:solidFill>
                  <a:srgbClr val="202535"/>
                </a:solidFill>
                <a:latin typeface="Calibri"/>
              </a:rPr>
              <a:t>Specs + Raw Photo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46320" y="2834640"/>
            <a:ext cx="2194560" cy="502920"/>
          </a:xfrm>
          <a:prstGeom prst="rect">
            <a:avLst/>
          </a:prstGeom>
          <a:solidFill>
            <a:srgbClr val="F5F7FB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/>
          <a:lstStyle/>
          <a:p>
            <a:pPr algn="ctr"/>
            <a:r>
              <a:rPr sz="1400" b="0">
                <a:solidFill>
                  <a:srgbClr val="202535"/>
                </a:solidFill>
                <a:latin typeface="Calibri"/>
              </a:rPr>
              <a:t>$165k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40880" y="2834640"/>
            <a:ext cx="2194560" cy="502920"/>
          </a:xfrm>
          <a:prstGeom prst="rect">
            <a:avLst/>
          </a:prstGeom>
          <a:solidFill>
            <a:srgbClr val="F5F7FB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/>
          <a:lstStyle/>
          <a:p>
            <a:pPr algn="ctr"/>
            <a:r>
              <a:rPr sz="1400" b="0">
                <a:solidFill>
                  <a:srgbClr val="202535"/>
                </a:solidFill>
                <a:latin typeface="Calibri"/>
              </a:rPr>
              <a:t>$181k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35440" y="2834640"/>
            <a:ext cx="2194560" cy="502920"/>
          </a:xfrm>
          <a:prstGeom prst="rect">
            <a:avLst/>
          </a:prstGeom>
          <a:solidFill>
            <a:srgbClr val="F5F7FB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/>
          <a:lstStyle/>
          <a:p>
            <a:pPr algn="ctr"/>
            <a:r>
              <a:rPr sz="1400" b="1">
                <a:solidFill>
                  <a:srgbClr val="202535"/>
                </a:solidFill>
                <a:latin typeface="Calibri"/>
              </a:rPr>
              <a:t>$165k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337560"/>
            <a:ext cx="420624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/>
          <a:lstStyle/>
          <a:p>
            <a:pPr algn="ctr"/>
            <a:r>
              <a:rPr sz="1400" b="0">
                <a:solidFill>
                  <a:srgbClr val="202535"/>
                </a:solidFill>
                <a:latin typeface="Calibri"/>
              </a:rPr>
              <a:t>Specs + Center Crop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46320" y="3337560"/>
            <a:ext cx="219456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/>
          <a:lstStyle/>
          <a:p>
            <a:pPr algn="ctr"/>
            <a:r>
              <a:rPr sz="1400" b="0">
                <a:solidFill>
                  <a:srgbClr val="202535"/>
                </a:solidFill>
                <a:latin typeface="Calibri"/>
              </a:rPr>
              <a:t>$165k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40880" y="3337560"/>
            <a:ext cx="219456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/>
          <a:lstStyle/>
          <a:p>
            <a:pPr algn="ctr"/>
            <a:r>
              <a:rPr sz="1400" b="0">
                <a:solidFill>
                  <a:srgbClr val="202535"/>
                </a:solidFill>
                <a:latin typeface="Calibri"/>
              </a:rPr>
              <a:t>$181k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235440" y="3337560"/>
            <a:ext cx="219456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/>
          <a:lstStyle/>
          <a:p>
            <a:pPr algn="ctr"/>
            <a:r>
              <a:rPr sz="1400" b="1">
                <a:solidFill>
                  <a:srgbClr val="202535"/>
                </a:solidFill>
                <a:latin typeface="Calibri"/>
              </a:rPr>
              <a:t>$165k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3840480"/>
            <a:ext cx="4206240" cy="502920"/>
          </a:xfrm>
          <a:prstGeom prst="rect">
            <a:avLst/>
          </a:prstGeom>
          <a:solidFill>
            <a:srgbClr val="F5F7FB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/>
          <a:lstStyle/>
          <a:p>
            <a:pPr algn="ctr"/>
            <a:r>
              <a:rPr sz="1400" b="0">
                <a:solidFill>
                  <a:srgbClr val="202535"/>
                </a:solidFill>
                <a:latin typeface="Calibri"/>
              </a:rPr>
              <a:t>Specs + Brightness Norm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46320" y="3840480"/>
            <a:ext cx="2194560" cy="502920"/>
          </a:xfrm>
          <a:prstGeom prst="rect">
            <a:avLst/>
          </a:prstGeom>
          <a:solidFill>
            <a:srgbClr val="F5F7FB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/>
          <a:lstStyle/>
          <a:p>
            <a:pPr algn="ctr"/>
            <a:r>
              <a:rPr sz="1400" b="0">
                <a:solidFill>
                  <a:srgbClr val="202535"/>
                </a:solidFill>
                <a:latin typeface="Calibri"/>
              </a:rPr>
              <a:t>$165k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040880" y="3840480"/>
            <a:ext cx="2194560" cy="502920"/>
          </a:xfrm>
          <a:prstGeom prst="rect">
            <a:avLst/>
          </a:prstGeom>
          <a:solidFill>
            <a:srgbClr val="F5F7FB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/>
          <a:lstStyle/>
          <a:p>
            <a:pPr algn="ctr"/>
            <a:r>
              <a:rPr sz="1400" b="0">
                <a:solidFill>
                  <a:srgbClr val="202535"/>
                </a:solidFill>
                <a:latin typeface="Calibri"/>
              </a:rPr>
              <a:t>$181k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35440" y="3840480"/>
            <a:ext cx="2194560" cy="502920"/>
          </a:xfrm>
          <a:prstGeom prst="rect">
            <a:avLst/>
          </a:prstGeom>
          <a:solidFill>
            <a:srgbClr val="F5F7FB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/>
          <a:lstStyle/>
          <a:p>
            <a:pPr algn="ctr"/>
            <a:r>
              <a:rPr sz="1400" b="1">
                <a:solidFill>
                  <a:srgbClr val="202535"/>
                </a:solidFill>
                <a:latin typeface="Calibri"/>
              </a:rPr>
              <a:t>$165k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4343400"/>
            <a:ext cx="420624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/>
          <a:lstStyle/>
          <a:p>
            <a:pPr algn="ctr"/>
            <a:r>
              <a:rPr sz="1400" b="0">
                <a:solidFill>
                  <a:srgbClr val="202535"/>
                </a:solidFill>
                <a:latin typeface="Calibri"/>
              </a:rPr>
              <a:t>Specs + Crop + Norm + HSV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46320" y="4343400"/>
            <a:ext cx="219456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/>
          <a:lstStyle/>
          <a:p>
            <a:pPr algn="ctr"/>
            <a:r>
              <a:rPr sz="1400" b="0">
                <a:solidFill>
                  <a:srgbClr val="202535"/>
                </a:solidFill>
                <a:latin typeface="Calibri"/>
              </a:rPr>
              <a:t>$165k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040880" y="4343400"/>
            <a:ext cx="219456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/>
          <a:lstStyle/>
          <a:p>
            <a:pPr algn="ctr"/>
            <a:r>
              <a:rPr sz="1400" b="0">
                <a:solidFill>
                  <a:srgbClr val="202535"/>
                </a:solidFill>
                <a:latin typeface="Calibri"/>
              </a:rPr>
              <a:t>$188k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235440" y="4343400"/>
            <a:ext cx="219456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/>
          <a:lstStyle/>
          <a:p>
            <a:pPr algn="ctr"/>
            <a:r>
              <a:rPr sz="1400" b="1">
                <a:solidFill>
                  <a:srgbClr val="202535"/>
                </a:solidFill>
                <a:latin typeface="Calibri"/>
              </a:rPr>
              <a:t>$165k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"/>
            <a:ext cx="228600" cy="822960"/>
          </a:xfrm>
          <a:prstGeom prst="rect">
            <a:avLst/>
          </a:prstGeom>
          <a:solidFill>
            <a:srgbClr val="FDB9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3594"/>
                </a:solidFill>
                <a:latin typeface="Calibri"/>
              </a:rPr>
              <a:t>Why Not Just Feed in the Pixels?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606878"/>
                </a:solidFill>
                <a:latin typeface="Calibri"/>
              </a:rPr>
              <a:t>The Dimensionality Wall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035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2024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003594"/>
                </a:solidFill>
                <a:latin typeface="Calibri"/>
              </a:rPr>
              <a:t>Each Photo Is 128 x 128 x 3 = 49,152 Pixel Values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65176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003594"/>
                </a:solidFill>
                <a:latin typeface="Calibri"/>
              </a:rPr>
              <a:t>Training Set Has Roughly 10,000 Houses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84048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202535"/>
                </a:solidFill>
                <a:latin typeface="Calibri"/>
              </a:rPr>
              <a:t>More Inputs Than Examples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389120"/>
            <a:ext cx="1115568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>
                <a:solidFill>
                  <a:srgbClr val="202535"/>
                </a:solidFill>
                <a:latin typeface="Calibri"/>
              </a:rPr>
              <a:t>The model can fit anything in training and learn nothing useful.</a:t>
            </a:r>
          </a:p>
          <a:p>
            <a:pPr algn="l"/>
            <a:r>
              <a:rPr sz="1700" b="0">
                <a:solidFill>
                  <a:srgbClr val="202535"/>
                </a:solidFill>
                <a:latin typeface="Calibri"/>
              </a:rPr>
              <a:t>Linear regression is underdetermined.</a:t>
            </a:r>
          </a:p>
          <a:p>
            <a:pPr algn="l"/>
            <a:r>
              <a:rPr sz="1700" b="0">
                <a:solidFill>
                  <a:srgbClr val="202535"/>
                </a:solidFill>
                <a:latin typeface="Calibri"/>
              </a:rPr>
              <a:t>KNN sees pixel positions as unrelated columns — shift the house</a:t>
            </a:r>
          </a:p>
          <a:p>
            <a:pPr algn="l"/>
            <a:r>
              <a:rPr sz="1700" b="0">
                <a:solidFill>
                  <a:srgbClr val="202535"/>
                </a:solidFill>
                <a:latin typeface="Calibri"/>
              </a:rPr>
              <a:t>Ten pixels left and every input value changes.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"/>
            <a:ext cx="228600" cy="822960"/>
          </a:xfrm>
          <a:prstGeom prst="rect">
            <a:avLst/>
          </a:prstGeom>
          <a:solidFill>
            <a:srgbClr val="FDB9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3594"/>
                </a:solidFill>
                <a:latin typeface="Calibri"/>
              </a:rPr>
              <a:t>A Filter Is a 3x3 Window That Slides Across the Photo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606878"/>
                </a:solidFill>
                <a:latin typeface="Calibri"/>
              </a:rPr>
              <a:t>The Kernel Is Fixed, the Output Is a Smaller Summary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035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obel_sliding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554480"/>
            <a:ext cx="874395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"/>
            <a:ext cx="228600" cy="822960"/>
          </a:xfrm>
          <a:prstGeom prst="rect">
            <a:avLst/>
          </a:prstGeom>
          <a:solidFill>
            <a:srgbClr val="FDB9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3594"/>
                </a:solidFill>
                <a:latin typeface="Calibri"/>
              </a:rPr>
              <a:t>Our Six Filters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606878"/>
                </a:solidFill>
                <a:latin typeface="Calibri"/>
              </a:rPr>
              <a:t>One Photo, Six Response Maps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035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19_filter_ba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11887200" cy="2007697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"/>
            <a:ext cx="228600" cy="822960"/>
          </a:xfrm>
          <a:prstGeom prst="rect">
            <a:avLst/>
          </a:prstGeom>
          <a:solidFill>
            <a:srgbClr val="FDB9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3594"/>
                </a:solidFill>
                <a:latin typeface="Calibri"/>
              </a:rPr>
              <a:t>What the Model Sees, End to 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606878"/>
                </a:solidFill>
                <a:latin typeface="Calibri"/>
              </a:rPr>
              <a:t>100 Numbers Per House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035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828800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003594"/>
                </a:solidFill>
                <a:latin typeface="Calibri"/>
              </a:rPr>
              <a:t>From the Listing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468880"/>
            <a:ext cx="54864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202535"/>
                </a:solidFill>
                <a:latin typeface="Calibri"/>
              </a:rPr>
              <a:t>Beds</a:t>
            </a:r>
          </a:p>
          <a:p>
            <a:pPr algn="l"/>
            <a:r>
              <a:rPr sz="2000" b="0">
                <a:solidFill>
                  <a:srgbClr val="202535"/>
                </a:solidFill>
                <a:latin typeface="Calibri"/>
              </a:rPr>
              <a:t>Baths</a:t>
            </a:r>
          </a:p>
          <a:p>
            <a:pPr algn="l"/>
            <a:r>
              <a:rPr sz="2000" b="0">
                <a:solidFill>
                  <a:srgbClr val="202535"/>
                </a:solidFill>
                <a:latin typeface="Calibri"/>
              </a:rPr>
              <a:t>Square footage</a:t>
            </a:r>
          </a:p>
          <a:p>
            <a:pPr algn="l"/>
            <a:r>
              <a:rPr sz="2000" b="0">
                <a:solidFill>
                  <a:srgbClr val="202535"/>
                </a:solidFill>
                <a:latin typeface="Calibri"/>
              </a:rPr>
              <a:t>Typical price in that city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003594"/>
                </a:solidFill>
                <a:latin typeface="Calibri"/>
              </a:rPr>
              <a:t>From the Photo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468880"/>
            <a:ext cx="54864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202535"/>
                </a:solidFill>
                <a:latin typeface="Calibri"/>
              </a:rPr>
              <a:t>6 filters, each pooled to 4 x 4</a:t>
            </a:r>
          </a:p>
          <a:p>
            <a:pPr algn="l"/>
            <a:r>
              <a:rPr sz="1800" b="0">
                <a:solidFill>
                  <a:srgbClr val="202535"/>
                </a:solidFill>
                <a:latin typeface="Calibri"/>
              </a:rPr>
              <a:t>= 96 numbers describing</a:t>
            </a:r>
          </a:p>
          <a:p>
            <a:pPr algn="l"/>
            <a:r>
              <a:rPr sz="1800" b="0">
                <a:solidFill>
                  <a:srgbClr val="202535"/>
                </a:solidFill>
                <a:latin typeface="Calibri"/>
              </a:rPr>
              <a:t>What's where in the photo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"/>
            <a:ext cx="228600" cy="822960"/>
          </a:xfrm>
          <a:prstGeom prst="rect">
            <a:avLst/>
          </a:prstGeom>
          <a:solidFill>
            <a:srgbClr val="FDB9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3594"/>
                </a:solidFill>
                <a:latin typeface="Calibri"/>
              </a:rPr>
              <a:t>Did Spatial Features Help?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606878"/>
                </a:solidFill>
                <a:latin typeface="Calibri"/>
              </a:rPr>
              <a:t>Validation MAE, by Feature Set and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035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4389120" cy="502920"/>
          </a:xfrm>
          <a:prstGeom prst="rect">
            <a:avLst/>
          </a:prstGeom>
          <a:solidFill>
            <a:srgbClr val="003594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Feature Set</a:t>
            </a:r>
          </a:p>
        </p:txBody>
      </p:sp>
      <p:sp>
        <p:nvSpPr>
          <p:cNvPr id="8" name="Rectangle 7"/>
          <p:cNvSpPr/>
          <p:nvPr/>
        </p:nvSpPr>
        <p:spPr>
          <a:xfrm>
            <a:off x="5120640" y="1828800"/>
            <a:ext cx="2011680" cy="502920"/>
          </a:xfrm>
          <a:prstGeom prst="rect">
            <a:avLst/>
          </a:prstGeom>
          <a:solidFill>
            <a:srgbClr val="003594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Linear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0" y="1828800"/>
            <a:ext cx="2011680" cy="502920"/>
          </a:xfrm>
          <a:prstGeom prst="rect">
            <a:avLst/>
          </a:prstGeom>
          <a:solidFill>
            <a:srgbClr val="003594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KNN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0" y="1828800"/>
            <a:ext cx="1828800" cy="502920"/>
          </a:xfrm>
          <a:prstGeom prst="rect">
            <a:avLst/>
          </a:prstGeom>
          <a:solidFill>
            <a:srgbClr val="003594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Best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331720"/>
            <a:ext cx="4389120" cy="502920"/>
          </a:xfrm>
          <a:prstGeom prst="rect">
            <a:avLst/>
          </a:prstGeom>
          <a:solidFill>
            <a:srgbClr val="FFF4D0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/>
          <a:lstStyle/>
          <a:p>
            <a:pPr algn="ctr"/>
            <a:r>
              <a:rPr sz="1400" b="0">
                <a:solidFill>
                  <a:srgbClr val="202535"/>
                </a:solidFill>
                <a:latin typeface="Calibri"/>
              </a:rPr>
              <a:t>Specs Only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20640" y="2331720"/>
            <a:ext cx="2011680" cy="502920"/>
          </a:xfrm>
          <a:prstGeom prst="rect">
            <a:avLst/>
          </a:prstGeom>
          <a:solidFill>
            <a:srgbClr val="FFF4D0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/>
          <a:lstStyle/>
          <a:p>
            <a:pPr algn="ctr"/>
            <a:r>
              <a:rPr sz="1400" b="0">
                <a:solidFill>
                  <a:srgbClr val="202535"/>
                </a:solidFill>
                <a:latin typeface="Calibri"/>
              </a:rPr>
              <a:t>$165k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0" y="2331720"/>
            <a:ext cx="2011680" cy="502920"/>
          </a:xfrm>
          <a:prstGeom prst="rect">
            <a:avLst/>
          </a:prstGeom>
          <a:solidFill>
            <a:srgbClr val="FFF4D0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/>
          <a:lstStyle/>
          <a:p>
            <a:pPr algn="ctr"/>
            <a:r>
              <a:rPr sz="1400" b="0">
                <a:solidFill>
                  <a:srgbClr val="202535"/>
                </a:solidFill>
                <a:latin typeface="Calibri"/>
              </a:rPr>
              <a:t>$150k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0" y="2331720"/>
            <a:ext cx="1828800" cy="502920"/>
          </a:xfrm>
          <a:prstGeom prst="rect">
            <a:avLst/>
          </a:prstGeom>
          <a:solidFill>
            <a:srgbClr val="FFF4D0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/>
          <a:lstStyle/>
          <a:p>
            <a:pPr algn="ctr"/>
            <a:r>
              <a:rPr sz="1400" b="1">
                <a:solidFill>
                  <a:srgbClr val="202535"/>
                </a:solidFill>
                <a:latin typeface="Calibri"/>
              </a:rPr>
              <a:t>$150k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834640"/>
            <a:ext cx="4389120" cy="502920"/>
          </a:xfrm>
          <a:prstGeom prst="rect">
            <a:avLst/>
          </a:prstGeom>
          <a:solidFill>
            <a:srgbClr val="F5F7FB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/>
          <a:lstStyle/>
          <a:p>
            <a:pPr algn="ctr"/>
            <a:r>
              <a:rPr sz="1400" b="0">
                <a:solidFill>
                  <a:srgbClr val="202535"/>
                </a:solidFill>
                <a:latin typeface="Calibri"/>
              </a:rPr>
              <a:t>Specs + Spatial (96)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20640" y="2834640"/>
            <a:ext cx="2011680" cy="502920"/>
          </a:xfrm>
          <a:prstGeom prst="rect">
            <a:avLst/>
          </a:prstGeom>
          <a:solidFill>
            <a:srgbClr val="F5F7FB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/>
          <a:lstStyle/>
          <a:p>
            <a:pPr algn="ctr"/>
            <a:r>
              <a:rPr sz="1400" b="0">
                <a:solidFill>
                  <a:srgbClr val="202535"/>
                </a:solidFill>
                <a:latin typeface="Calibri"/>
              </a:rPr>
              <a:t>$164k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32320" y="2834640"/>
            <a:ext cx="2011680" cy="502920"/>
          </a:xfrm>
          <a:prstGeom prst="rect">
            <a:avLst/>
          </a:prstGeom>
          <a:solidFill>
            <a:srgbClr val="F5F7FB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/>
          <a:lstStyle/>
          <a:p>
            <a:pPr algn="ctr"/>
            <a:r>
              <a:rPr sz="1400" b="0">
                <a:solidFill>
                  <a:srgbClr val="202535"/>
                </a:solidFill>
                <a:latin typeface="Calibri"/>
              </a:rPr>
              <a:t>$218k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0" y="2834640"/>
            <a:ext cx="1828800" cy="502920"/>
          </a:xfrm>
          <a:prstGeom prst="rect">
            <a:avLst/>
          </a:prstGeom>
          <a:solidFill>
            <a:srgbClr val="F5F7FB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/>
          <a:lstStyle/>
          <a:p>
            <a:pPr algn="ctr"/>
            <a:r>
              <a:rPr sz="1400" b="1">
                <a:solidFill>
                  <a:srgbClr val="202535"/>
                </a:solidFill>
                <a:latin typeface="Calibri"/>
              </a:rPr>
              <a:t>$164k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337560"/>
            <a:ext cx="43891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/>
          <a:lstStyle/>
          <a:p>
            <a:pPr algn="ctr"/>
            <a:r>
              <a:rPr sz="1400" b="0">
                <a:solidFill>
                  <a:srgbClr val="202535"/>
                </a:solidFill>
                <a:latin typeface="Calibri"/>
              </a:rPr>
              <a:t>Spatial Only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20640" y="3337560"/>
            <a:ext cx="201168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/>
          <a:lstStyle/>
          <a:p>
            <a:pPr algn="ctr"/>
            <a:r>
              <a:rPr sz="1400" b="0">
                <a:solidFill>
                  <a:srgbClr val="202535"/>
                </a:solidFill>
                <a:latin typeface="Calibri"/>
              </a:rPr>
              <a:t>$269k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0" y="3337560"/>
            <a:ext cx="201168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/>
          <a:lstStyle/>
          <a:p>
            <a:pPr algn="ctr"/>
            <a:r>
              <a:rPr sz="1400" b="0">
                <a:solidFill>
                  <a:srgbClr val="202535"/>
                </a:solidFill>
                <a:latin typeface="Calibri"/>
              </a:rPr>
              <a:t>$265k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0" y="3337560"/>
            <a:ext cx="18288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/>
          <a:lstStyle/>
          <a:p>
            <a:pPr algn="ctr"/>
            <a:r>
              <a:rPr sz="1400" b="1">
                <a:solidFill>
                  <a:srgbClr val="202535"/>
                </a:solidFill>
                <a:latin typeface="Calibri"/>
              </a:rPr>
              <a:t>$265k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"/>
            <a:ext cx="228600" cy="822960"/>
          </a:xfrm>
          <a:prstGeom prst="rect">
            <a:avLst/>
          </a:prstGeom>
          <a:solidFill>
            <a:srgbClr val="FDB9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3594"/>
                </a:solidFill>
                <a:latin typeface="Calibri"/>
              </a:rPr>
              <a:t>Per-City, With and Without the Photo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606878"/>
                </a:solidFill>
                <a:latin typeface="Calibri"/>
              </a:rPr>
              <a:t>KNN, Specs Only vs Specs + Image. Two Cities Benefit a Little. The Rest Get Worse.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035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12_per_city_del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1033749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"/>
            <a:ext cx="228600" cy="822960"/>
          </a:xfrm>
          <a:prstGeom prst="rect">
            <a:avLst/>
          </a:prstGeom>
          <a:solidFill>
            <a:srgbClr val="FDB9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3594"/>
                </a:solidFill>
                <a:latin typeface="Calibri"/>
              </a:rPr>
              <a:t>Final Test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606878"/>
                </a:solidFill>
                <a:latin typeface="Calibri"/>
              </a:rPr>
              <a:t>Trained on Train + Val, Evaluated Once on the 3,095 Held-Out Test Rows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035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3108960" cy="457200"/>
          </a:xfrm>
          <a:prstGeom prst="rect">
            <a:avLst/>
          </a:prstGeom>
          <a:solidFill>
            <a:srgbClr val="003594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8" name="Rectangle 7"/>
          <p:cNvSpPr/>
          <p:nvPr/>
        </p:nvSpPr>
        <p:spPr>
          <a:xfrm>
            <a:off x="3749040" y="1737360"/>
            <a:ext cx="2194560" cy="457200"/>
          </a:xfrm>
          <a:prstGeom prst="rect">
            <a:avLst/>
          </a:prstGeom>
          <a:solidFill>
            <a:srgbClr val="003594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Features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737360"/>
            <a:ext cx="1554480" cy="457200"/>
          </a:xfrm>
          <a:prstGeom prst="rect">
            <a:avLst/>
          </a:prstGeom>
          <a:solidFill>
            <a:srgbClr val="003594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MAE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80" y="1737360"/>
            <a:ext cx="1554480" cy="457200"/>
          </a:xfrm>
          <a:prstGeom prst="rect">
            <a:avLst/>
          </a:prstGeom>
          <a:solidFill>
            <a:srgbClr val="003594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RMSE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52560" y="1737360"/>
            <a:ext cx="1371600" cy="457200"/>
          </a:xfrm>
          <a:prstGeom prst="rect">
            <a:avLst/>
          </a:prstGeom>
          <a:solidFill>
            <a:srgbClr val="003594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% Within $50k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424160" y="1737360"/>
            <a:ext cx="1371600" cy="457200"/>
          </a:xfrm>
          <a:prstGeom prst="rect">
            <a:avLst/>
          </a:prstGeom>
          <a:solidFill>
            <a:srgbClr val="003594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% Within $100k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194560"/>
            <a:ext cx="3108960" cy="45720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/>
          <a:lstStyle/>
          <a:p>
            <a:pPr algn="ctr"/>
            <a:r>
              <a:rPr sz="1200" b="0">
                <a:solidFill>
                  <a:srgbClr val="202535"/>
                </a:solidFill>
                <a:latin typeface="Calibri"/>
              </a:rPr>
              <a:t>Constant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49040" y="2194560"/>
            <a:ext cx="2194560" cy="45720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/>
          <a:lstStyle/>
          <a:p>
            <a:pPr algn="ctr"/>
            <a:r>
              <a:rPr sz="1200" b="0">
                <a:solidFill>
                  <a:srgbClr val="202535"/>
                </a:solidFill>
                <a:latin typeface="Calibri"/>
              </a:rPr>
              <a:t>None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0" y="2194560"/>
            <a:ext cx="1554480" cy="45720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/>
          <a:lstStyle/>
          <a:p>
            <a:pPr algn="ctr"/>
            <a:r>
              <a:rPr sz="1200" b="0">
                <a:solidFill>
                  <a:srgbClr val="202535"/>
                </a:solidFill>
                <a:latin typeface="Calibri"/>
              </a:rPr>
              <a:t>$270k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80" y="2194560"/>
            <a:ext cx="1554480" cy="45720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/>
          <a:lstStyle/>
          <a:p>
            <a:pPr algn="ctr"/>
            <a:r>
              <a:rPr sz="1200" b="0">
                <a:solidFill>
                  <a:srgbClr val="202535"/>
                </a:solidFill>
                <a:latin typeface="Calibri"/>
              </a:rPr>
              <a:t>$366k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52560" y="2194560"/>
            <a:ext cx="13716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/>
          <a:lstStyle/>
          <a:p>
            <a:pPr algn="ctr"/>
            <a:r>
              <a:rPr sz="1200" b="0">
                <a:solidFill>
                  <a:srgbClr val="202535"/>
                </a:solidFill>
                <a:latin typeface="Calibri"/>
              </a:rPr>
              <a:t>13.9%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424160" y="2194560"/>
            <a:ext cx="13716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/>
          <a:lstStyle/>
          <a:p>
            <a:pPr algn="ctr"/>
            <a:r>
              <a:rPr sz="1200" b="0">
                <a:solidFill>
                  <a:srgbClr val="202535"/>
                </a:solidFill>
                <a:latin typeface="Calibri"/>
              </a:rPr>
              <a:t>27.1%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2651760"/>
            <a:ext cx="3108960" cy="457200"/>
          </a:xfrm>
          <a:prstGeom prst="rect">
            <a:avLst/>
          </a:prstGeom>
          <a:solidFill>
            <a:srgbClr val="F5F7FB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/>
          <a:lstStyle/>
          <a:p>
            <a:pPr algn="ctr"/>
            <a:r>
              <a:rPr sz="1200" b="0">
                <a:solidFill>
                  <a:srgbClr val="202535"/>
                </a:solidFill>
                <a:latin typeface="Calibri"/>
              </a:rPr>
              <a:t>Linear Regression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49040" y="2651760"/>
            <a:ext cx="2194560" cy="457200"/>
          </a:xfrm>
          <a:prstGeom prst="rect">
            <a:avLst/>
          </a:prstGeom>
          <a:solidFill>
            <a:srgbClr val="F5F7FB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/>
          <a:lstStyle/>
          <a:p>
            <a:pPr algn="ctr"/>
            <a:r>
              <a:rPr sz="1200" b="0">
                <a:solidFill>
                  <a:srgbClr val="202535"/>
                </a:solidFill>
                <a:latin typeface="Calibri"/>
              </a:rPr>
              <a:t>Specs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0" y="2651760"/>
            <a:ext cx="1554480" cy="457200"/>
          </a:xfrm>
          <a:prstGeom prst="rect">
            <a:avLst/>
          </a:prstGeom>
          <a:solidFill>
            <a:srgbClr val="F5F7FB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/>
          <a:lstStyle/>
          <a:p>
            <a:pPr algn="ctr"/>
            <a:r>
              <a:rPr sz="1200" b="0">
                <a:solidFill>
                  <a:srgbClr val="202535"/>
                </a:solidFill>
                <a:latin typeface="Calibri"/>
              </a:rPr>
              <a:t>$164k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98080" y="2651760"/>
            <a:ext cx="1554480" cy="457200"/>
          </a:xfrm>
          <a:prstGeom prst="rect">
            <a:avLst/>
          </a:prstGeom>
          <a:solidFill>
            <a:srgbClr val="F5F7FB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/>
          <a:lstStyle/>
          <a:p>
            <a:pPr algn="ctr"/>
            <a:r>
              <a:rPr sz="1200" b="0">
                <a:solidFill>
                  <a:srgbClr val="202535"/>
                </a:solidFill>
                <a:latin typeface="Calibri"/>
              </a:rPr>
              <a:t>$233k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52560" y="2651760"/>
            <a:ext cx="1371600" cy="457200"/>
          </a:xfrm>
          <a:prstGeom prst="rect">
            <a:avLst/>
          </a:prstGeom>
          <a:solidFill>
            <a:srgbClr val="F5F7FB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/>
          <a:lstStyle/>
          <a:p>
            <a:pPr algn="ctr"/>
            <a:r>
              <a:rPr sz="1200" b="0">
                <a:solidFill>
                  <a:srgbClr val="202535"/>
                </a:solidFill>
                <a:latin typeface="Calibri"/>
              </a:rPr>
              <a:t>23.2%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424160" y="2651760"/>
            <a:ext cx="1371600" cy="457200"/>
          </a:xfrm>
          <a:prstGeom prst="rect">
            <a:avLst/>
          </a:prstGeom>
          <a:solidFill>
            <a:srgbClr val="F5F7FB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/>
          <a:lstStyle/>
          <a:p>
            <a:pPr algn="ctr"/>
            <a:r>
              <a:rPr sz="1200" b="0">
                <a:solidFill>
                  <a:srgbClr val="202535"/>
                </a:solidFill>
                <a:latin typeface="Calibri"/>
              </a:rPr>
              <a:t>44.5%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3108960"/>
            <a:ext cx="3108960" cy="45720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/>
          <a:lstStyle/>
          <a:p>
            <a:pPr algn="ctr"/>
            <a:r>
              <a:rPr sz="1200" b="0">
                <a:solidFill>
                  <a:srgbClr val="202535"/>
                </a:solidFill>
                <a:latin typeface="Calibri"/>
              </a:rPr>
              <a:t>Linear Regression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49040" y="3108960"/>
            <a:ext cx="2194560" cy="45720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/>
          <a:lstStyle/>
          <a:p>
            <a:pPr algn="ctr"/>
            <a:r>
              <a:rPr sz="1200" b="0">
                <a:solidFill>
                  <a:srgbClr val="202535"/>
                </a:solidFill>
                <a:latin typeface="Calibri"/>
              </a:rPr>
              <a:t>Specs + Spatial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0" y="3108960"/>
            <a:ext cx="1554480" cy="45720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/>
          <a:lstStyle/>
          <a:p>
            <a:pPr algn="ctr"/>
            <a:r>
              <a:rPr sz="1200" b="0">
                <a:solidFill>
                  <a:srgbClr val="202535"/>
                </a:solidFill>
                <a:latin typeface="Calibri"/>
              </a:rPr>
              <a:t>$163k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98080" y="3108960"/>
            <a:ext cx="1554480" cy="45720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/>
          <a:lstStyle/>
          <a:p>
            <a:pPr algn="ctr"/>
            <a:r>
              <a:rPr sz="1200" b="0">
                <a:solidFill>
                  <a:srgbClr val="202535"/>
                </a:solidFill>
                <a:latin typeface="Calibri"/>
              </a:rPr>
              <a:t>$233k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052560" y="3108960"/>
            <a:ext cx="13716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/>
          <a:lstStyle/>
          <a:p>
            <a:pPr algn="ctr"/>
            <a:r>
              <a:rPr sz="1200" b="0">
                <a:solidFill>
                  <a:srgbClr val="202535"/>
                </a:solidFill>
                <a:latin typeface="Calibri"/>
              </a:rPr>
              <a:t>23.1%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424160" y="3108960"/>
            <a:ext cx="13716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/>
          <a:lstStyle/>
          <a:p>
            <a:pPr algn="ctr"/>
            <a:r>
              <a:rPr sz="1200" b="0">
                <a:solidFill>
                  <a:srgbClr val="202535"/>
                </a:solidFill>
                <a:latin typeface="Calibri"/>
              </a:rPr>
              <a:t>44.8%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3566160"/>
            <a:ext cx="3108960" cy="457200"/>
          </a:xfrm>
          <a:prstGeom prst="rect">
            <a:avLst/>
          </a:prstGeom>
          <a:solidFill>
            <a:srgbClr val="FFF4D0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/>
          <a:lstStyle/>
          <a:p>
            <a:pPr algn="ctr"/>
            <a:r>
              <a:rPr sz="1200" b="0">
                <a:solidFill>
                  <a:srgbClr val="202535"/>
                </a:solidFill>
                <a:latin typeface="Calibri"/>
              </a:rPr>
              <a:t>KNN, k=15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749040" y="3566160"/>
            <a:ext cx="2194560" cy="457200"/>
          </a:xfrm>
          <a:prstGeom prst="rect">
            <a:avLst/>
          </a:prstGeom>
          <a:solidFill>
            <a:srgbClr val="FFF4D0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/>
          <a:lstStyle/>
          <a:p>
            <a:pPr algn="ctr"/>
            <a:r>
              <a:rPr sz="1200" b="0">
                <a:solidFill>
                  <a:srgbClr val="202535"/>
                </a:solidFill>
                <a:latin typeface="Calibri"/>
              </a:rPr>
              <a:t>Specs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0" y="3566160"/>
            <a:ext cx="1554480" cy="457200"/>
          </a:xfrm>
          <a:prstGeom prst="rect">
            <a:avLst/>
          </a:prstGeom>
          <a:solidFill>
            <a:srgbClr val="FFF4D0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/>
          <a:lstStyle/>
          <a:p>
            <a:pPr algn="ctr"/>
            <a:r>
              <a:rPr sz="1200" b="0">
                <a:solidFill>
                  <a:srgbClr val="202535"/>
                </a:solidFill>
                <a:latin typeface="Calibri"/>
              </a:rPr>
              <a:t>$150k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8080" y="3566160"/>
            <a:ext cx="1554480" cy="457200"/>
          </a:xfrm>
          <a:prstGeom prst="rect">
            <a:avLst/>
          </a:prstGeom>
          <a:solidFill>
            <a:srgbClr val="FFF4D0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/>
          <a:lstStyle/>
          <a:p>
            <a:pPr algn="ctr"/>
            <a:r>
              <a:rPr sz="1200" b="0">
                <a:solidFill>
                  <a:srgbClr val="202535"/>
                </a:solidFill>
                <a:latin typeface="Calibri"/>
              </a:rPr>
              <a:t>$224k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052560" y="3566160"/>
            <a:ext cx="1371600" cy="457200"/>
          </a:xfrm>
          <a:prstGeom prst="rect">
            <a:avLst/>
          </a:prstGeom>
          <a:solidFill>
            <a:srgbClr val="FFF4D0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/>
          <a:lstStyle/>
          <a:p>
            <a:pPr algn="ctr"/>
            <a:r>
              <a:rPr sz="1200" b="0">
                <a:solidFill>
                  <a:srgbClr val="202535"/>
                </a:solidFill>
                <a:latin typeface="Calibri"/>
              </a:rPr>
              <a:t>29.4%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424160" y="3566160"/>
            <a:ext cx="1371600" cy="457200"/>
          </a:xfrm>
          <a:prstGeom prst="rect">
            <a:avLst/>
          </a:prstGeom>
          <a:solidFill>
            <a:srgbClr val="FFF4D0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/>
          <a:lstStyle/>
          <a:p>
            <a:pPr algn="ctr"/>
            <a:r>
              <a:rPr sz="1200" b="0">
                <a:solidFill>
                  <a:srgbClr val="202535"/>
                </a:solidFill>
                <a:latin typeface="Calibri"/>
              </a:rPr>
              <a:t>51.0%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4023360"/>
            <a:ext cx="3108960" cy="45720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/>
          <a:lstStyle/>
          <a:p>
            <a:pPr algn="ctr"/>
            <a:r>
              <a:rPr sz="1200" b="0">
                <a:solidFill>
                  <a:srgbClr val="202535"/>
                </a:solidFill>
                <a:latin typeface="Calibri"/>
              </a:rPr>
              <a:t>KNN, k=15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749040" y="4023360"/>
            <a:ext cx="2194560" cy="45720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/>
          <a:lstStyle/>
          <a:p>
            <a:pPr algn="ctr"/>
            <a:r>
              <a:rPr sz="1200" b="0">
                <a:solidFill>
                  <a:srgbClr val="202535"/>
                </a:solidFill>
                <a:latin typeface="Calibri"/>
              </a:rPr>
              <a:t>Specs + Spatial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43600" y="4023360"/>
            <a:ext cx="1554480" cy="45720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/>
          <a:lstStyle/>
          <a:p>
            <a:pPr algn="ctr"/>
            <a:r>
              <a:rPr sz="1200" b="0">
                <a:solidFill>
                  <a:srgbClr val="202535"/>
                </a:solidFill>
                <a:latin typeface="Calibri"/>
              </a:rPr>
              <a:t>$208k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98080" y="4023360"/>
            <a:ext cx="1554480" cy="45720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/>
          <a:lstStyle/>
          <a:p>
            <a:pPr algn="ctr"/>
            <a:r>
              <a:rPr sz="1200" b="0">
                <a:solidFill>
                  <a:srgbClr val="202535"/>
                </a:solidFill>
                <a:latin typeface="Calibri"/>
              </a:rPr>
              <a:t>$291k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52560" y="4023360"/>
            <a:ext cx="13716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/>
          <a:lstStyle/>
          <a:p>
            <a:pPr algn="ctr"/>
            <a:r>
              <a:rPr sz="1200" b="0">
                <a:solidFill>
                  <a:srgbClr val="202535"/>
                </a:solidFill>
                <a:latin typeface="Calibri"/>
              </a:rPr>
              <a:t>15.8%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424160" y="4023360"/>
            <a:ext cx="13716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/>
          <a:lstStyle/>
          <a:p>
            <a:pPr algn="ctr"/>
            <a:r>
              <a:rPr sz="1200" b="0">
                <a:solidFill>
                  <a:srgbClr val="202535"/>
                </a:solidFill>
                <a:latin typeface="Calibri"/>
              </a:rPr>
              <a:t>33.9%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5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FDB9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1556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0">
                <a:solidFill>
                  <a:srgbClr val="FDB913"/>
                </a:solidFill>
                <a:latin typeface="Calibri"/>
              </a:rPr>
              <a:t>Specs already carry the price signal.</a:t>
            </a:r>
          </a:p>
          <a:p>
            <a:pPr algn="l"/>
            <a:r>
              <a:rPr sz="2400" b="0">
                <a:solidFill>
                  <a:srgbClr val="FDB913"/>
                </a:solidFill>
                <a:latin typeface="Calibri"/>
              </a:rPr>
              <a:t>The photo, hand-summarized in numpy, does not add anything on top.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DB913"/>
                </a:solidFill>
                <a:latin typeface="Calibri"/>
              </a:rPr>
              <a:t>What We Tried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60520"/>
            <a:ext cx="1115568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27 simple image features and 96 spatial filter features.</a:t>
            </a:r>
          </a:p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Preprocessing (crop, normalize, HSV) didn't help.</a:t>
            </a:r>
          </a:p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Neither linear nor KNN improved with photo features added.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